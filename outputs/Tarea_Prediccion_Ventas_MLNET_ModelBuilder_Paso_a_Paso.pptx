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e7da4c329f4777" /><Relationship Type="http://schemas.openxmlformats.org/officeDocument/2006/relationships/extended-properties" Target="/docProps/app.xml" Id="Rab3b426d2aa147ae" /><Relationship Type="http://schemas.openxmlformats.org/officeDocument/2006/relationships/officeDocument" Target="/ppt/presentation.xml" Id="R06d464c82e9942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3811effe6e4b98"/>
  </p:sldMasterIdLst>
  <p:notesMasterIdLst>
    <p:notesMasterId xmlns:r="http://schemas.openxmlformats.org/officeDocument/2006/relationships" r:id="R597e904eddba4d61"/>
  </p:notesMasterIdLst>
  <p:sldIdLst>
    <p:sldId xmlns:r="http://schemas.openxmlformats.org/officeDocument/2006/relationships" id="256" r:id="R58f84a1280304bee"/>
    <p:sldId xmlns:r="http://schemas.openxmlformats.org/officeDocument/2006/relationships" id="257" r:id="R708d6492806147d8"/>
    <p:sldId xmlns:r="http://schemas.openxmlformats.org/officeDocument/2006/relationships" id="258" r:id="R74d8b86b2cf24507"/>
    <p:sldId xmlns:r="http://schemas.openxmlformats.org/officeDocument/2006/relationships" id="259" r:id="R3544f14d8a5f4845"/>
    <p:sldId xmlns:r="http://schemas.openxmlformats.org/officeDocument/2006/relationships" id="260" r:id="Rbe2b3b5e5045466b"/>
    <p:sldId xmlns:r="http://schemas.openxmlformats.org/officeDocument/2006/relationships" id="261" r:id="R89a28818c4fb4932"/>
    <p:sldId xmlns:r="http://schemas.openxmlformats.org/officeDocument/2006/relationships" id="262" r:id="R14aacfa16f694e04"/>
    <p:sldId xmlns:r="http://schemas.openxmlformats.org/officeDocument/2006/relationships" id="263" r:id="R6be2d9fc6c744995"/>
    <p:sldId xmlns:r="http://schemas.openxmlformats.org/officeDocument/2006/relationships" id="264" r:id="R93a810ea4fa04757"/>
    <p:sldId xmlns:r="http://schemas.openxmlformats.org/officeDocument/2006/relationships" id="265" r:id="R7a5b963acce44505"/>
    <p:sldId xmlns:r="http://schemas.openxmlformats.org/officeDocument/2006/relationships" id="266" r:id="R6389030a51c24394"/>
    <p:sldId xmlns:r="http://schemas.openxmlformats.org/officeDocument/2006/relationships" id="267" r:id="R42bc9e39351d409f"/>
    <p:sldId xmlns:r="http://schemas.openxmlformats.org/officeDocument/2006/relationships" id="268" r:id="R4c3c9fee23d045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0c55aa7bed490f" /><Relationship Type="http://schemas.openxmlformats.org/officeDocument/2006/relationships/slideMaster" Target="/ppt/slideMasters/slideMaster1.xml" Id="R793811effe6e4b98" /><Relationship Type="http://schemas.openxmlformats.org/officeDocument/2006/relationships/notesMaster" Target="/ppt/notesMasters/notesMaster1.xml" Id="R597e904eddba4d61" /><Relationship Type="http://schemas.openxmlformats.org/officeDocument/2006/relationships/presProps" Target="/ppt/presProps.xml" Id="R0010db50bf5440b4" /><Relationship Type="http://schemas.openxmlformats.org/officeDocument/2006/relationships/tableStyles" Target="/ppt/tableStyles.xml" Id="Rccce3882e5eb44fb" /><Relationship Type="http://schemas.openxmlformats.org/officeDocument/2006/relationships/slide" Target="/ppt/slides/slide1.xml" Id="R58f84a1280304bee" /><Relationship Type="http://schemas.openxmlformats.org/officeDocument/2006/relationships/slide" Target="/ppt/slides/slide2.xml" Id="R708d6492806147d8" /><Relationship Type="http://schemas.openxmlformats.org/officeDocument/2006/relationships/slide" Target="/ppt/slides/slide3.xml" Id="R74d8b86b2cf24507" /><Relationship Type="http://schemas.openxmlformats.org/officeDocument/2006/relationships/slide" Target="/ppt/slides/slide4.xml" Id="R3544f14d8a5f4845" /><Relationship Type="http://schemas.openxmlformats.org/officeDocument/2006/relationships/slide" Target="/ppt/slides/slide5.xml" Id="Rbe2b3b5e5045466b" /><Relationship Type="http://schemas.openxmlformats.org/officeDocument/2006/relationships/slide" Target="/ppt/slides/slide6.xml" Id="R89a28818c4fb4932" /><Relationship Type="http://schemas.openxmlformats.org/officeDocument/2006/relationships/slide" Target="/ppt/slides/slide7.xml" Id="R14aacfa16f694e04" /><Relationship Type="http://schemas.openxmlformats.org/officeDocument/2006/relationships/slide" Target="/ppt/slides/slide8.xml" Id="R6be2d9fc6c744995" /><Relationship Type="http://schemas.openxmlformats.org/officeDocument/2006/relationships/slide" Target="/ppt/slides/slide9.xml" Id="R93a810ea4fa04757" /><Relationship Type="http://schemas.openxmlformats.org/officeDocument/2006/relationships/slide" Target="/ppt/slides/slide10.xml" Id="R7a5b963acce44505" /><Relationship Type="http://schemas.openxmlformats.org/officeDocument/2006/relationships/slide" Target="/ppt/slides/slide11.xml" Id="R6389030a51c24394" /><Relationship Type="http://schemas.openxmlformats.org/officeDocument/2006/relationships/slide" Target="/ppt/slides/slide12.xml" Id="R42bc9e39351d409f" /><Relationship Type="http://schemas.openxmlformats.org/officeDocument/2006/relationships/slide" Target="/ppt/slides/slide13.xml" Id="R4c3c9fee23d045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505721f1cd40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55e6a985444b9a" /><Relationship Type="http://schemas.openxmlformats.org/officeDocument/2006/relationships/notesMaster" Target="/ppt/notesMasters/notesMaster1.xml" Id="R966dae99d21d4f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f095ed3731403b" /><Relationship Type="http://schemas.openxmlformats.org/officeDocument/2006/relationships/notesMaster" Target="/ppt/notesMasters/notesMaster1.xml" Id="Ra758d9ae1ff54a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5e8a871eb34d8a" /><Relationship Type="http://schemas.openxmlformats.org/officeDocument/2006/relationships/notesMaster" Target="/ppt/notesMasters/notesMaster1.xml" Id="Rc0be9dbec7e145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3cb460227444a6" /><Relationship Type="http://schemas.openxmlformats.org/officeDocument/2006/relationships/notesMaster" Target="/ppt/notesMasters/notesMaster1.xml" Id="R70a68e6a917243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0f8819cd0747bc" /><Relationship Type="http://schemas.openxmlformats.org/officeDocument/2006/relationships/notesMaster" Target="/ppt/notesMasters/notesMaster1.xml" Id="R8531fcd1099347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838f41d65a4c11" /><Relationship Type="http://schemas.openxmlformats.org/officeDocument/2006/relationships/notesMaster" Target="/ppt/notesMasters/notesMaster1.xml" Id="Rab3c68e0781544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9aed147cda49e5" /><Relationship Type="http://schemas.openxmlformats.org/officeDocument/2006/relationships/notesMaster" Target="/ppt/notesMasters/notesMaster1.xml" Id="R98c2aeca268c4d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d43c0bcdb34ee2" /><Relationship Type="http://schemas.openxmlformats.org/officeDocument/2006/relationships/notesMaster" Target="/ppt/notesMasters/notesMaster1.xml" Id="R54e1fc04c95943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cfdd347d554777" /><Relationship Type="http://schemas.openxmlformats.org/officeDocument/2006/relationships/notesMaster" Target="/ppt/notesMasters/notesMaster1.xml" Id="Rd028f657677942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64dc1bfe1246e0" /><Relationship Type="http://schemas.openxmlformats.org/officeDocument/2006/relationships/notesMaster" Target="/ppt/notesMasters/notesMaster1.xml" Id="R59c029e158d242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59f80d2f1a46d4" /><Relationship Type="http://schemas.openxmlformats.org/officeDocument/2006/relationships/notesMaster" Target="/ppt/notesMasters/notesMaster1.xml" Id="R241757d9bd904e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f2c42eead1419a" /><Relationship Type="http://schemas.openxmlformats.org/officeDocument/2006/relationships/notesMaster" Target="/ppt/notesMasters/notesMaster1.xml" Id="R3708c8e8840549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b935693dd749c2" /><Relationship Type="http://schemas.openxmlformats.org/officeDocument/2006/relationships/notesMaster" Target="/ppt/notesMasters/notesMaster1.xml" Id="R2209b51ff13541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39392cba8a4b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99cb46199a4598" /><Relationship Type="http://schemas.openxmlformats.org/officeDocument/2006/relationships/slideLayout" Target="/ppt/slideLayouts/slideLayout1.xml" Id="R183cb3cb7ba84a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3cb3cb7ba84a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52ab75dfb4c53" /><Relationship Type="http://schemas.openxmlformats.org/officeDocument/2006/relationships/notesSlide" Target="/ppt/notesSlides/notesSlide1.xml" Id="Rf771cb0274e04e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4303b95024879" /><Relationship Type="http://schemas.openxmlformats.org/officeDocument/2006/relationships/notesSlide" Target="/ppt/notesSlides/notesSlide2.xml" Id="Rab45f6b2810743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61e880606470d" /><Relationship Type="http://schemas.openxmlformats.org/officeDocument/2006/relationships/notesSlide" Target="/ppt/notesSlides/notesSlide3.xml" Id="R4b09d92aa34141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493ee9a3640db" /><Relationship Type="http://schemas.openxmlformats.org/officeDocument/2006/relationships/notesSlide" Target="/ppt/notesSlides/notesSlide4.xml" Id="R8474f7846b9746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2dd21d6ce4e4d" /><Relationship Type="http://schemas.openxmlformats.org/officeDocument/2006/relationships/notesSlide" Target="/ppt/notesSlides/notesSlide5.xml" Id="R5ff6c38a1d6048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8f76d7fe04ccd" /><Relationship Type="http://schemas.openxmlformats.org/officeDocument/2006/relationships/notesSlide" Target="/ppt/notesSlides/notesSlide6.xml" Id="Rc56dd11eb32a40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b61fc49314ec1" /><Relationship Type="http://schemas.openxmlformats.org/officeDocument/2006/relationships/notesSlide" Target="/ppt/notesSlides/notesSlide7.xml" Id="R494397f93b6846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8dda0e4e243af" /><Relationship Type="http://schemas.openxmlformats.org/officeDocument/2006/relationships/chart" Target="/ppt/slides/charts/chart1.xml" Id="R502985dffa2246e9" /><Relationship Type="http://schemas.openxmlformats.org/officeDocument/2006/relationships/notesSlide" Target="/ppt/notesSlides/notesSlide8.xml" Id="R5cab11dc032240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43feedca14a5d" /><Relationship Type="http://schemas.openxmlformats.org/officeDocument/2006/relationships/notesSlide" Target="/ppt/notesSlides/notesSlide9.xml" Id="R2eff84aec6a347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c095425bc4c64" /><Relationship Type="http://schemas.openxmlformats.org/officeDocument/2006/relationships/notesSlide" Target="/ppt/notesSlides/notesSlide10.xml" Id="Rfa1e8286564543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f55417d074515" /><Relationship Type="http://schemas.openxmlformats.org/officeDocument/2006/relationships/chart" Target="/ppt/slides/charts/chart2.xml" Id="R07a852554aff4c35" /><Relationship Type="http://schemas.openxmlformats.org/officeDocument/2006/relationships/notesSlide" Target="/ppt/notesSlides/notesSlide11.xml" Id="R0302e29648644c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61da0af084e7a" /><Relationship Type="http://schemas.openxmlformats.org/officeDocument/2006/relationships/notesSlide" Target="/ppt/notesSlides/notesSlide12.xml" Id="R31d5b66197c045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ceb3f1f3d450c" /><Relationship Type="http://schemas.openxmlformats.org/officeDocument/2006/relationships/notesSlide" Target="/ppt/notesSlides/notesSlide13.xml" Id="R15339290e59b412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Interpretación relativa</c:v>
          </c:tx>
          <c:spPr>
            <a:solidFill xmlns:a="http://schemas.openxmlformats.org/drawingml/2006/main">
              <a:srgbClr val="0B6E99"/>
            </a:solidFill>
          </c:spPr>
          <c:cat>
            <c:strLit>
              <c:ptCount val="3"/>
              <c:pt idx="0">
                <c:v>R²</c:v>
              </c:pt>
              <c:pt idx="1">
                <c:v>RMSE</c:v>
              </c:pt>
              <c:pt idx="2">
                <c:v>MAE</c:v>
              </c:pt>
            </c:strLit>
          </c:cat>
          <c:val>
            <c:numLit>
              <c:formatCode>General</c:formatCode>
              <c:ptCount val="3"/>
              <c:pt idx="0">
                <c:v>90</c:v>
              </c:pt>
              <c:pt idx="1">
                <c:v>28</c:v>
              </c:pt>
              <c:pt idx="2">
                <c:v>18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Real</c:v>
          </c:tx>
          <c:spPr>
            <a:solidFill xmlns:a="http://schemas.openxmlformats.org/drawingml/2006/main">
              <a:srgbClr val="083B4C"/>
            </a:solidFill>
          </c:spPr>
          <c:marker>
            <c:symbol val="none"/>
          </c:marker>
          <c:cat>
            <c:strLit>
              <c:ptCount val="6"/>
              <c:pt idx="0">
                <c:v>Ene</c:v>
              </c:pt>
              <c:pt idx="1">
                <c:v>Mar</c:v>
              </c:pt>
              <c:pt idx="2">
                <c:v>May</c:v>
              </c:pt>
              <c:pt idx="3">
                <c:v>Jul</c:v>
              </c:pt>
              <c:pt idx="4">
                <c:v>Sep</c:v>
              </c:pt>
              <c:pt idx="5">
                <c:v>Nov</c:v>
              </c:pt>
            </c:strLit>
          </c:cat>
          <c:val>
            <c:numLit>
              <c:formatCode>General</c:formatCode>
              <c:ptCount val="6"/>
              <c:pt idx="0">
                <c:v>72</c:v>
              </c:pt>
              <c:pt idx="1">
                <c:v>81</c:v>
              </c:pt>
              <c:pt idx="2">
                <c:v>76</c:v>
              </c:pt>
              <c:pt idx="3">
                <c:v>93</c:v>
              </c:pt>
              <c:pt idx="4">
                <c:v>99</c:v>
              </c:pt>
              <c:pt idx="5">
                <c:v>112</c:v>
              </c:pt>
            </c:numLit>
          </c:val>
        </c:ser>
        <c:ser>
          <c:idx val="1"/>
          <c:order val="1"/>
          <c:tx>
            <c:v>Predicho</c:v>
          </c:tx>
          <c:spPr>
            <a:solidFill xmlns:a="http://schemas.openxmlformats.org/drawingml/2006/main">
              <a:srgbClr val="26B6C8"/>
            </a:solidFill>
          </c:spPr>
          <c:marker>
            <c:symbol val="none"/>
          </c:marker>
          <c:cat>
            <c:strLit>
              <c:ptCount val="6"/>
              <c:pt idx="0">
                <c:v>Ene</c:v>
              </c:pt>
              <c:pt idx="1">
                <c:v>Mar</c:v>
              </c:pt>
              <c:pt idx="2">
                <c:v>May</c:v>
              </c:pt>
              <c:pt idx="3">
                <c:v>Jul</c:v>
              </c:pt>
              <c:pt idx="4">
                <c:v>Sep</c:v>
              </c:pt>
              <c:pt idx="5">
                <c:v>Nov</c:v>
              </c:pt>
            </c:strLit>
          </c:cat>
          <c:val>
            <c:numLit>
              <c:formatCode>General</c:formatCode>
              <c:ptCount val="6"/>
              <c:pt idx="0">
                <c:v>70</c:v>
              </c:pt>
              <c:pt idx="1">
                <c:v>79</c:v>
              </c:pt>
              <c:pt idx="2">
                <c:v>80</c:v>
              </c:pt>
              <c:pt idx="3">
                <c:v>90</c:v>
              </c:pt>
              <c:pt idx="4">
                <c:v>102</c:v>
              </c:pt>
              <c:pt idx="5">
                <c:v>109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CE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AD7DE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ill-INTELIGENCIA DE NEGOCIOS">
            <a:extLst xmlns:a="http://schemas.openxmlformats.org/drawingml/2006/main">
              <a:ext uri="{FF2B5EF4-FFF2-40B4-BE49-F238E27FC236}">
                <a16:creationId xmlns:a16="http://schemas.microsoft.com/office/drawing/2014/main" id="{C4A30739-746E-4501-89E3-077FB6B7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2" name="pill-text-INTELIGENCIA DE NEGOCIOS">
            <a:extLst xmlns:a="http://schemas.openxmlformats.org/drawingml/2006/main">
              <a:ext uri="{FF2B5EF4-FFF2-40B4-BE49-F238E27FC236}">
                <a16:creationId xmlns:a16="http://schemas.microsoft.com/office/drawing/2014/main" id="{50D6DA4F-FF9A-4BBD-91D0-A16AB2E9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INTELIGENCIA DE NEGOCIOS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5E1A7F7-038F-4915-A1BC-2C10C252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781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Predicción de ventas</a:t>
            </a:r>
          </a:p>
          <a:p xmlns:a="http://schemas.openxmlformats.org/drawingml/2006/main">
            <a:pPr algn="l">
              <a:defRPr sz="4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 ML.NET Model Builder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B88A5B7-6C79-4503-AC7F-6BB1641D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Tarea académica y guía paso a paso</a:t>
            </a:r>
          </a:p>
        </p:txBody>
      </p:sp>
      <p:sp>
        <p:nvSpPr>
          <p:cNvPr id="5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43DBD13E-393C-4695-9BED-76B383BD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1012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Python · Visual Studio · ML.NET · Excel / Power BI</a:t>
            </a:r>
          </a:p>
        </p:txBody>
      </p:sp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FA7A1DD-4B3C-4BFC-A017-86FB330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62000"/>
            <a:ext cx="2000250" cy="4953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83B4C"/>
          </a:solidFill>
          <a:ln xmlns:a="http://schemas.openxmlformats.org/drawingml/2006/main" w="9525">
            <a:solidFill>
              <a:srgbClr val="083B4C"/>
            </a:solidFill>
            <a:prstDash val="solid"/>
          </a:ln>
        </p:spPr>
      </p:sp>
      <p:sp>
        <p:nvSpPr>
          <p:cNvPr id="7" name="cover-stat">
            <a:extLst xmlns:a="http://schemas.openxmlformats.org/drawingml/2006/main">
              <a:ext uri="{FF2B5EF4-FFF2-40B4-BE49-F238E27FC236}">
                <a16:creationId xmlns:a16="http://schemas.microsoft.com/office/drawing/2014/main" id="{6942E1A0-50A3-49A5-8B50-49A90770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952625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3.000</a:t>
            </a:r>
          </a:p>
        </p:txBody>
      </p:sp>
      <p:sp>
        <p:nvSpPr>
          <p:cNvPr id="8" name="cover-stat-label">
            <a:extLst xmlns:a="http://schemas.openxmlformats.org/drawingml/2006/main">
              <a:ext uri="{FF2B5EF4-FFF2-40B4-BE49-F238E27FC236}">
                <a16:creationId xmlns:a16="http://schemas.microsoft.com/office/drawing/2014/main" id="{6EE5DE20-A999-4351-8293-163E75B2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53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FEA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FEAF0"/>
                </a:solidFill>
                <a:latin typeface="Aptos"/>
                <a:ea typeface="Aptos"/>
                <a:cs typeface="Aptos"/>
              </a:rPr>
              <a:t>registros sintéticos</a:t>
            </a:r>
          </a:p>
        </p:txBody>
      </p:sp>
      <p:sp>
        <p:nvSpPr>
          <p:cNvPr id="9" name="cover-label">
            <a:extLst xmlns:a="http://schemas.openxmlformats.org/drawingml/2006/main">
              <a:ext uri="{FF2B5EF4-FFF2-40B4-BE49-F238E27FC236}">
                <a16:creationId xmlns:a16="http://schemas.microsoft.com/office/drawing/2014/main" id="{67B39AD9-F1EC-4DF0-8F76-EBA8B3F9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6712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FEAF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FEAF0"/>
                </a:solidFill>
                <a:latin typeface="Aptos"/>
                <a:ea typeface="Aptos"/>
                <a:cs typeface="Aptos"/>
              </a:rPr>
              <a:t>Variable objetivo</a:t>
            </a:r>
          </a:p>
        </p:txBody>
      </p:sp>
      <p:sp>
        <p:nvSpPr>
          <p:cNvPr id="10" name="cover-target">
            <a:extLst xmlns:a="http://schemas.openxmlformats.org/drawingml/2006/main">
              <a:ext uri="{FF2B5EF4-FFF2-40B4-BE49-F238E27FC236}">
                <a16:creationId xmlns:a16="http://schemas.microsoft.com/office/drawing/2014/main" id="{EF00210D-3DD8-4C89-8473-8CA3A3AB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005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total_sales</a:t>
            </a:r>
          </a:p>
        </p:txBody>
      </p:sp>
    </p:spTree>
    <p:extLst>
      <p:ext uri="{BB962C8B-B14F-4D97-AF65-F5344CB8AC3E}">
        <p14:creationId xmlns:p14="http://schemas.microsoft.com/office/powerpoint/2010/main" val="16531493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506318-1323-48C3-978C-72C5360E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El objetivo es completar un flujo predictivo de punta a punta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597BEA3-8346-4797-95E5-6AB76018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Al finalizar, el estudiante habrá conectado datos, modelo, predicciones y visualización.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5064FA2-D5A3-4335-B1FA-2130A2E5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flow-0">
            <a:extLst xmlns:a="http://schemas.openxmlformats.org/drawingml/2006/main">
              <a:ext uri="{FF2B5EF4-FFF2-40B4-BE49-F238E27FC236}">
                <a16:creationId xmlns:a16="http://schemas.microsoft.com/office/drawing/2014/main" id="{2E545473-134E-4268-8F44-C094CEB6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2381250" cy="2476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5" name="flow-kicker-0">
            <a:extLst xmlns:a="http://schemas.openxmlformats.org/drawingml/2006/main">
              <a:ext uri="{FF2B5EF4-FFF2-40B4-BE49-F238E27FC236}">
                <a16:creationId xmlns:a16="http://schemas.microsoft.com/office/drawing/2014/main" id="{2EE742F6-66F6-48AF-8868-6A7B0E23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flow-head-0">
            <a:extLst xmlns:a="http://schemas.openxmlformats.org/drawingml/2006/main">
              <a:ext uri="{FF2B5EF4-FFF2-40B4-BE49-F238E27FC236}">
                <a16:creationId xmlns:a16="http://schemas.microsoft.com/office/drawing/2014/main" id="{926E5D9A-C5D0-4CA3-870E-3AFCFE57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Generar</a:t>
            </a:r>
          </a:p>
        </p:txBody>
      </p:sp>
      <p:sp>
        <p:nvSpPr>
          <p:cNvPr id="7" name="flow-body-0">
            <a:extLst xmlns:a="http://schemas.openxmlformats.org/drawingml/2006/main">
              <a:ext uri="{FF2B5EF4-FFF2-40B4-BE49-F238E27FC236}">
                <a16:creationId xmlns:a16="http://schemas.microsoft.com/office/drawing/2014/main" id="{14C3D978-76E5-4951-8E0D-90AA057B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1952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Crear ventas sintéticas con reglas de negocio.</a:t>
            </a:r>
          </a:p>
        </p:txBody>
      </p:sp>
      <p:sp>
        <p:nvSpPr>
          <p:cNvPr id="8" name="arrow-0">
            <a:extLst xmlns:a="http://schemas.openxmlformats.org/drawingml/2006/main">
              <a:ext uri="{FF2B5EF4-FFF2-40B4-BE49-F238E27FC236}">
                <a16:creationId xmlns:a16="http://schemas.microsoft.com/office/drawing/2014/main" id="{AEDF92A4-9F62-43AB-9403-E2ED514E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432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flow-1">
            <a:extLst xmlns:a="http://schemas.openxmlformats.org/drawingml/2006/main">
              <a:ext uri="{FF2B5EF4-FFF2-40B4-BE49-F238E27FC236}">
                <a16:creationId xmlns:a16="http://schemas.microsoft.com/office/drawing/2014/main" id="{C42E23B5-591D-4CA9-A6B6-E6D750F7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381250" cy="2476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26B6C8"/>
            </a:solidFill>
            <a:prstDash val="solid"/>
          </a:ln>
        </p:spPr>
      </p:sp>
      <p:sp>
        <p:nvSpPr>
          <p:cNvPr id="10" name="flow-kicker-1">
            <a:extLst xmlns:a="http://schemas.openxmlformats.org/drawingml/2006/main">
              <a:ext uri="{FF2B5EF4-FFF2-40B4-BE49-F238E27FC236}">
                <a16:creationId xmlns:a16="http://schemas.microsoft.com/office/drawing/2014/main" id="{7FB3A927-BEE1-477F-8747-2A9585EB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28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flow-head-1">
            <a:extLst xmlns:a="http://schemas.openxmlformats.org/drawingml/2006/main">
              <a:ext uri="{FF2B5EF4-FFF2-40B4-BE49-F238E27FC236}">
                <a16:creationId xmlns:a16="http://schemas.microsoft.com/office/drawing/2014/main" id="{3C847C7D-0894-4C6B-BFC4-57FE7B93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Entrenar</a:t>
            </a:r>
          </a:p>
        </p:txBody>
      </p:sp>
      <p:sp>
        <p:nvSpPr>
          <p:cNvPr id="12" name="flow-body-1">
            <a:extLst xmlns:a="http://schemas.openxmlformats.org/drawingml/2006/main">
              <a:ext uri="{FF2B5EF4-FFF2-40B4-BE49-F238E27FC236}">
                <a16:creationId xmlns:a16="http://schemas.microsoft.com/office/drawing/2014/main" id="{B1302979-0AC0-4F45-8B25-AA5AE38B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1952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Usar AutoML para una regresión sobre total_sales.</a:t>
            </a:r>
          </a:p>
        </p:txBody>
      </p:sp>
      <p:sp>
        <p:nvSpPr>
          <p:cNvPr id="13" name="arrow-1">
            <a:extLst xmlns:a="http://schemas.openxmlformats.org/drawingml/2006/main">
              <a:ext uri="{FF2B5EF4-FFF2-40B4-BE49-F238E27FC236}">
                <a16:creationId xmlns:a16="http://schemas.microsoft.com/office/drawing/2014/main" id="{4AB9DAB6-4987-49F2-A5E9-13D31966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432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flow-2">
            <a:extLst xmlns:a="http://schemas.openxmlformats.org/drawingml/2006/main">
              <a:ext uri="{FF2B5EF4-FFF2-40B4-BE49-F238E27FC236}">
                <a16:creationId xmlns:a16="http://schemas.microsoft.com/office/drawing/2014/main" id="{E311D75E-2379-4CCF-8791-2578366B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2381250" cy="2476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5" name="flow-kicker-2">
            <a:extLst xmlns:a="http://schemas.openxmlformats.org/drawingml/2006/main">
              <a:ext uri="{FF2B5EF4-FFF2-40B4-BE49-F238E27FC236}">
                <a16:creationId xmlns:a16="http://schemas.microsoft.com/office/drawing/2014/main" id="{15771E37-9E84-4BE0-B0EC-E3C0A75F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28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flow-head-2">
            <a:extLst xmlns:a="http://schemas.openxmlformats.org/drawingml/2006/main">
              <a:ext uri="{FF2B5EF4-FFF2-40B4-BE49-F238E27FC236}">
                <a16:creationId xmlns:a16="http://schemas.microsoft.com/office/drawing/2014/main" id="{5DE5F5A9-2A8E-4BE1-80D0-B61DA60A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05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Predecir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580D4EC1-590D-4F1C-9C45-05880A2D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76625"/>
            <a:ext cx="1952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Comparar venta real vs. estimada en un CSV.</a:t>
            </a:r>
          </a:p>
        </p:txBody>
      </p:sp>
      <p:sp>
        <p:nvSpPr>
          <p:cNvPr id="18" name="arrow-2">
            <a:extLst xmlns:a="http://schemas.openxmlformats.org/drawingml/2006/main">
              <a:ext uri="{FF2B5EF4-FFF2-40B4-BE49-F238E27FC236}">
                <a16:creationId xmlns:a16="http://schemas.microsoft.com/office/drawing/2014/main" id="{AC35BF56-4083-4F25-A283-C45083F4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flow-3">
            <a:extLst xmlns:a="http://schemas.openxmlformats.org/drawingml/2006/main">
              <a:ext uri="{FF2B5EF4-FFF2-40B4-BE49-F238E27FC236}">
                <a16:creationId xmlns:a16="http://schemas.microsoft.com/office/drawing/2014/main" id="{1A8D6B5F-F690-4F91-AEDB-20182888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381250" cy="2476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26B6C8"/>
            </a:solidFill>
            <a:prstDash val="solid"/>
          </a:ln>
        </p:spPr>
      </p:sp>
      <p:sp>
        <p:nvSpPr>
          <p:cNvPr id="20" name="flow-kicker-3">
            <a:extLst xmlns:a="http://schemas.openxmlformats.org/drawingml/2006/main">
              <a:ext uri="{FF2B5EF4-FFF2-40B4-BE49-F238E27FC236}">
                <a16:creationId xmlns:a16="http://schemas.microsoft.com/office/drawing/2014/main" id="{2CBE9E3F-801A-4DA7-BBD0-2E7FB08B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28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flow-head-3">
            <a:extLst xmlns:a="http://schemas.openxmlformats.org/drawingml/2006/main">
              <a:ext uri="{FF2B5EF4-FFF2-40B4-BE49-F238E27FC236}">
                <a16:creationId xmlns:a16="http://schemas.microsoft.com/office/drawing/2014/main" id="{2BFBEE0E-9E3F-470E-85D6-B7A430A8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05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Comunicar</a:t>
            </a:r>
          </a:p>
        </p:txBody>
      </p:sp>
      <p:sp>
        <p:nvSpPr>
          <p:cNvPr id="22" name="flow-body-3">
            <a:extLst xmlns:a="http://schemas.openxmlformats.org/drawingml/2006/main">
              <a:ext uri="{FF2B5EF4-FFF2-40B4-BE49-F238E27FC236}">
                <a16:creationId xmlns:a16="http://schemas.microsoft.com/office/drawing/2014/main" id="{BA9FB766-C3B9-4764-A3AA-6ADC8E09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76625"/>
            <a:ext cx="1952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Construir un dashboard y formular recomendaciones.</a:t>
            </a:r>
          </a:p>
        </p:txBody>
      </p:sp>
    </p:spTree>
    <p:extLst>
      <p:ext uri="{BB962C8B-B14F-4D97-AF65-F5344CB8AC3E}">
        <p14:creationId xmlns:p14="http://schemas.microsoft.com/office/powerpoint/2010/main" val="17549040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A4B08A-B81D-4159-A7DB-0D7A517B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entrega debe demostrar el proceso, no solo el resultado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EB416A-A8E4-47D9-889E-938B4656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Organice evidencias y artefactos para que el trabajo pueda reproducirse.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5B8B8BA-7B66-4B21-A404-B7BDC3FF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deliverable-0">
            <a:extLst xmlns:a="http://schemas.openxmlformats.org/drawingml/2006/main">
              <a:ext uri="{FF2B5EF4-FFF2-40B4-BE49-F238E27FC236}">
                <a16:creationId xmlns:a16="http://schemas.microsoft.com/office/drawing/2014/main" id="{D1516EF6-C489-424E-A988-85EE291B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3524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5" name="deliverable-num-0">
            <a:extLst xmlns:a="http://schemas.openxmlformats.org/drawingml/2006/main">
              <a:ext uri="{FF2B5EF4-FFF2-40B4-BE49-F238E27FC236}">
                <a16:creationId xmlns:a16="http://schemas.microsoft.com/office/drawing/2014/main" id="{9E9198DA-8E81-4D11-B363-3018FB11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deliverable-head-0">
            <a:extLst xmlns:a="http://schemas.openxmlformats.org/drawingml/2006/main">
              <a:ext uri="{FF2B5EF4-FFF2-40B4-BE49-F238E27FC236}">
                <a16:creationId xmlns:a16="http://schemas.microsoft.com/office/drawing/2014/main" id="{6E93CC06-06A0-4171-A11C-7145976C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003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Prompt y script</a:t>
            </a:r>
          </a:p>
        </p:txBody>
      </p:sp>
      <p:sp>
        <p:nvSpPr>
          <p:cNvPr id="7" name="deliverable-body-0">
            <a:extLst xmlns:a="http://schemas.openxmlformats.org/drawingml/2006/main">
              <a:ext uri="{FF2B5EF4-FFF2-40B4-BE49-F238E27FC236}">
                <a16:creationId xmlns:a16="http://schemas.microsoft.com/office/drawing/2014/main" id="{71AF7F27-28A8-45C0-BEF8-9707A515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098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generate_synthetic_sales.py</a:t>
            </a:r>
          </a:p>
        </p:txBody>
      </p:sp>
      <p:sp>
        <p:nvSpPr>
          <p:cNvPr id="8" name="deliverable-1">
            <a:extLst xmlns:a="http://schemas.openxmlformats.org/drawingml/2006/main">
              <a:ext uri="{FF2B5EF4-FFF2-40B4-BE49-F238E27FC236}">
                <a16:creationId xmlns:a16="http://schemas.microsoft.com/office/drawing/2014/main" id="{8F7301D9-5E4F-4560-B8EA-9654574B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524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9" name="deliverable-num-1">
            <a:extLst xmlns:a="http://schemas.openxmlformats.org/drawingml/2006/main">
              <a:ext uri="{FF2B5EF4-FFF2-40B4-BE49-F238E27FC236}">
                <a16:creationId xmlns:a16="http://schemas.microsoft.com/office/drawing/2014/main" id="{BB0CC217-0CA9-497B-8ADF-16953B18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deliverable-head-1">
            <a:extLst xmlns:a="http://schemas.openxmlformats.org/drawingml/2006/main">
              <a:ext uri="{FF2B5EF4-FFF2-40B4-BE49-F238E27FC236}">
                <a16:creationId xmlns:a16="http://schemas.microsoft.com/office/drawing/2014/main" id="{29DCEF72-2372-4FD6-82D0-739042E8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Datos de entrenamiento</a:t>
            </a:r>
          </a:p>
        </p:txBody>
      </p:sp>
      <p:sp>
        <p:nvSpPr>
          <p:cNvPr id="11" name="deliverable-body-1">
            <a:extLst xmlns:a="http://schemas.openxmlformats.org/drawingml/2006/main">
              <a:ext uri="{FF2B5EF4-FFF2-40B4-BE49-F238E27FC236}">
                <a16:creationId xmlns:a16="http://schemas.microsoft.com/office/drawing/2014/main" id="{F4916837-A43D-47F7-81AE-9AB89D8C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ventas_sinteticas_2025.csv</a:t>
            </a:r>
          </a:p>
        </p:txBody>
      </p:sp>
      <p:sp>
        <p:nvSpPr>
          <p:cNvPr id="12" name="deliverable-2">
            <a:extLst xmlns:a="http://schemas.openxmlformats.org/drawingml/2006/main">
              <a:ext uri="{FF2B5EF4-FFF2-40B4-BE49-F238E27FC236}">
                <a16:creationId xmlns:a16="http://schemas.microsoft.com/office/drawing/2014/main" id="{0F172E31-5871-4090-B47C-232612CF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3524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3" name="deliverable-num-2">
            <a:extLst xmlns:a="http://schemas.openxmlformats.org/drawingml/2006/main">
              <a:ext uri="{FF2B5EF4-FFF2-40B4-BE49-F238E27FC236}">
                <a16:creationId xmlns:a16="http://schemas.microsoft.com/office/drawing/2014/main" id="{7E647957-6450-4F28-BF67-F41CBD10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000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deliverable-head-2">
            <a:extLst xmlns:a="http://schemas.openxmlformats.org/drawingml/2006/main">
              <a:ext uri="{FF2B5EF4-FFF2-40B4-BE49-F238E27FC236}">
                <a16:creationId xmlns:a16="http://schemas.microsoft.com/office/drawing/2014/main" id="{8F5A738F-0966-42DC-B9AA-38D07408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4003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Evidencia del modelo</a:t>
            </a:r>
          </a:p>
        </p:txBody>
      </p:sp>
      <p:sp>
        <p:nvSpPr>
          <p:cNvPr id="15" name="deliverable-body-2">
            <a:extLst xmlns:a="http://schemas.openxmlformats.org/drawingml/2006/main">
              <a:ext uri="{FF2B5EF4-FFF2-40B4-BE49-F238E27FC236}">
                <a16:creationId xmlns:a16="http://schemas.microsoft.com/office/drawing/2014/main" id="{CC00B500-F38F-4AB3-91FC-D9B570A3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098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capturas + métricas</a:t>
            </a:r>
          </a:p>
        </p:txBody>
      </p:sp>
      <p:sp>
        <p:nvSpPr>
          <p:cNvPr id="16" name="deliverable-3">
            <a:extLst xmlns:a="http://schemas.openxmlformats.org/drawingml/2006/main">
              <a:ext uri="{FF2B5EF4-FFF2-40B4-BE49-F238E27FC236}">
                <a16:creationId xmlns:a16="http://schemas.microsoft.com/office/drawing/2014/main" id="{A0E5930B-1EFB-43CB-92AC-535BE0CF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3524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7" name="deliverable-num-3">
            <a:extLst xmlns:a="http://schemas.openxmlformats.org/drawingml/2006/main">
              <a:ext uri="{FF2B5EF4-FFF2-40B4-BE49-F238E27FC236}">
                <a16:creationId xmlns:a16="http://schemas.microsoft.com/office/drawing/2014/main" id="{C7CDD508-E77B-42AC-8DB0-3033DB58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52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deliverable-head-3">
            <a:extLst xmlns:a="http://schemas.openxmlformats.org/drawingml/2006/main">
              <a:ext uri="{FF2B5EF4-FFF2-40B4-BE49-F238E27FC236}">
                <a16:creationId xmlns:a16="http://schemas.microsoft.com/office/drawing/2014/main" id="{75FF1CDA-BC1F-4B99-A68E-813518F0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5292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Predicciones masivas</a:t>
            </a:r>
          </a:p>
        </p:txBody>
      </p:sp>
      <p:sp>
        <p:nvSpPr>
          <p:cNvPr id="19" name="deliverable-body-3">
            <a:extLst xmlns:a="http://schemas.openxmlformats.org/drawingml/2006/main">
              <a:ext uri="{FF2B5EF4-FFF2-40B4-BE49-F238E27FC236}">
                <a16:creationId xmlns:a16="http://schemas.microsoft.com/office/drawing/2014/main" id="{6B699164-5F62-4C71-A880-67B78667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625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resultados_prediccion.csv</a:t>
            </a:r>
          </a:p>
        </p:txBody>
      </p:sp>
      <p:sp>
        <p:nvSpPr>
          <p:cNvPr id="20" name="deliverable-4">
            <a:extLst xmlns:a="http://schemas.openxmlformats.org/drawingml/2006/main">
              <a:ext uri="{FF2B5EF4-FFF2-40B4-BE49-F238E27FC236}">
                <a16:creationId xmlns:a16="http://schemas.microsoft.com/office/drawing/2014/main" id="{F7596F14-81BA-4876-8DDD-43C478EA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62375"/>
            <a:ext cx="3524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21" name="deliverable-num-4">
            <a:extLst xmlns:a="http://schemas.openxmlformats.org/drawingml/2006/main">
              <a:ext uri="{FF2B5EF4-FFF2-40B4-BE49-F238E27FC236}">
                <a16:creationId xmlns:a16="http://schemas.microsoft.com/office/drawing/2014/main" id="{E1811F92-5CDA-4E2D-8B8E-4171BD5B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52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deliverable-head-4">
            <a:extLst xmlns:a="http://schemas.openxmlformats.org/drawingml/2006/main">
              <a:ext uri="{FF2B5EF4-FFF2-40B4-BE49-F238E27FC236}">
                <a16:creationId xmlns:a16="http://schemas.microsoft.com/office/drawing/2014/main" id="{19725CA1-04A9-476E-B37A-8FC5B5CE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5292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Visualización</a:t>
            </a:r>
          </a:p>
        </p:txBody>
      </p:sp>
      <p:sp>
        <p:nvSpPr>
          <p:cNvPr id="23" name="deliverable-body-4">
            <a:extLst xmlns:a="http://schemas.openxmlformats.org/drawingml/2006/main">
              <a:ext uri="{FF2B5EF4-FFF2-40B4-BE49-F238E27FC236}">
                <a16:creationId xmlns:a16="http://schemas.microsoft.com/office/drawing/2014/main" id="{2C7D7CF7-8E7E-4B25-B40F-00295583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625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dashboard .xlsx o .pbix</a:t>
            </a:r>
          </a:p>
        </p:txBody>
      </p:sp>
      <p:sp>
        <p:nvSpPr>
          <p:cNvPr id="24" name="deliverable-5">
            <a:extLst xmlns:a="http://schemas.openxmlformats.org/drawingml/2006/main">
              <a:ext uri="{FF2B5EF4-FFF2-40B4-BE49-F238E27FC236}">
                <a16:creationId xmlns:a16="http://schemas.microsoft.com/office/drawing/2014/main" id="{408A2781-E0BA-4CEC-A540-6AA34ECE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62375"/>
            <a:ext cx="3524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25" name="deliverable-num-5">
            <a:extLst xmlns:a="http://schemas.openxmlformats.org/drawingml/2006/main">
              <a:ext uri="{FF2B5EF4-FFF2-40B4-BE49-F238E27FC236}">
                <a16:creationId xmlns:a16="http://schemas.microsoft.com/office/drawing/2014/main" id="{E22CDD85-A7CC-46FD-A154-D2A94124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952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6" name="deliverable-head-5">
            <a:extLst xmlns:a="http://schemas.openxmlformats.org/drawingml/2006/main">
              <a:ext uri="{FF2B5EF4-FFF2-40B4-BE49-F238E27FC236}">
                <a16:creationId xmlns:a16="http://schemas.microsoft.com/office/drawing/2014/main" id="{D7666BA7-AC8A-4FB7-BFBF-172AA839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35292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Síntesis</a:t>
            </a:r>
          </a:p>
        </p:txBody>
      </p:sp>
      <p:sp>
        <p:nvSpPr>
          <p:cNvPr id="27" name="deliverable-body-5">
            <a:extLst xmlns:a="http://schemas.openxmlformats.org/drawingml/2006/main">
              <a:ext uri="{FF2B5EF4-FFF2-40B4-BE49-F238E27FC236}">
                <a16:creationId xmlns:a16="http://schemas.microsoft.com/office/drawing/2014/main" id="{187092B2-7D07-40C1-A233-FD6BC770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625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conclusiones y recomendaciones</a:t>
            </a:r>
          </a:p>
        </p:txBody>
      </p:sp>
    </p:spTree>
    <p:extLst>
      <p:ext uri="{BB962C8B-B14F-4D97-AF65-F5344CB8AC3E}">
        <p14:creationId xmlns:p14="http://schemas.microsoft.com/office/powerpoint/2010/main" val="296505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A34DBE-7CCD-431B-A757-7DDF21D6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base sintética traduce reglas comerciales en 3.000 observaciones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644767D-6756-4BF1-8189-562F1212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Cobertura: todo 2025, cinco zonas ecuatorianas y cinco categorías de productos.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A1A3E8C-25BC-46DA-90EF-501EAC77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stat-0">
            <a:extLst xmlns:a="http://schemas.openxmlformats.org/drawingml/2006/main">
              <a:ext uri="{FF2B5EF4-FFF2-40B4-BE49-F238E27FC236}">
                <a16:creationId xmlns:a16="http://schemas.microsoft.com/office/drawing/2014/main" id="{BC1507F4-0DF0-4002-AA43-7EAC2E99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2428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83B4C"/>
          </a:solidFill>
          <a:ln xmlns:a="http://schemas.openxmlformats.org/drawingml/2006/main" w="9525">
            <a:solidFill>
              <a:srgbClr val="083B4C"/>
            </a:solidFill>
            <a:prstDash val="solid"/>
          </a:ln>
        </p:spPr>
      </p:sp>
      <p:sp>
        <p:nvSpPr>
          <p:cNvPr id="5" name="stat-value-0">
            <a:extLst xmlns:a="http://schemas.openxmlformats.org/drawingml/2006/main">
              <a:ext uri="{FF2B5EF4-FFF2-40B4-BE49-F238E27FC236}">
                <a16:creationId xmlns:a16="http://schemas.microsoft.com/office/drawing/2014/main" id="{313ED01C-F3E0-467A-A5E2-8407BB54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19300"/>
            <a:ext cx="2085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3.000</a:t>
            </a:r>
          </a:p>
        </p:txBody>
      </p:sp>
      <p:sp>
        <p:nvSpPr>
          <p:cNvPr id="6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D6191F36-C539-441D-B011-0A8E7C92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908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FEA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FEAF0"/>
                </a:solidFill>
                <a:latin typeface="Aptos"/>
                <a:ea typeface="Aptos"/>
                <a:cs typeface="Aptos"/>
              </a:rPr>
              <a:t>filas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B9FBDC03-3CBB-494C-84FC-CF77B7FB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14500"/>
            <a:ext cx="2428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8" name="stat-value-1">
            <a:extLst xmlns:a="http://schemas.openxmlformats.org/drawingml/2006/main">
              <a:ext uri="{FF2B5EF4-FFF2-40B4-BE49-F238E27FC236}">
                <a16:creationId xmlns:a16="http://schemas.microsoft.com/office/drawing/2014/main" id="{E77D1596-058D-438B-8B30-9FDCC71C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19300"/>
            <a:ext cx="2085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9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C893EE1-F23B-4EDA-A48D-9E380368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908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columnas</a:t>
            </a:r>
          </a:p>
        </p:txBody>
      </p:sp>
      <p:sp>
        <p:nvSpPr>
          <p:cNvPr id="10" name="stat-2">
            <a:extLst xmlns:a="http://schemas.openxmlformats.org/drawingml/2006/main">
              <a:ext uri="{FF2B5EF4-FFF2-40B4-BE49-F238E27FC236}">
                <a16:creationId xmlns:a16="http://schemas.microsoft.com/office/drawing/2014/main" id="{66C6EA51-E799-4E68-AF21-E8EF0AFB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14500"/>
            <a:ext cx="2428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11" name="stat-value-2">
            <a:extLst xmlns:a="http://schemas.openxmlformats.org/drawingml/2006/main">
              <a:ext uri="{FF2B5EF4-FFF2-40B4-BE49-F238E27FC236}">
                <a16:creationId xmlns:a16="http://schemas.microsoft.com/office/drawing/2014/main" id="{9D4C5B1F-98A3-4EAB-BDCD-78967D65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19300"/>
            <a:ext cx="2085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D69B256E-E0A0-4768-A081-3F96D7C2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908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zonas</a:t>
            </a:r>
          </a:p>
        </p:txBody>
      </p:sp>
      <p:sp>
        <p:nvSpPr>
          <p:cNvPr id="13" name="stat-3">
            <a:extLst xmlns:a="http://schemas.openxmlformats.org/drawingml/2006/main">
              <a:ext uri="{FF2B5EF4-FFF2-40B4-BE49-F238E27FC236}">
                <a16:creationId xmlns:a16="http://schemas.microsoft.com/office/drawing/2014/main" id="{16421325-E703-4AA7-9FC1-3C729BCC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14500"/>
            <a:ext cx="2428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14" name="stat-value-3">
            <a:extLst xmlns:a="http://schemas.openxmlformats.org/drawingml/2006/main">
              <a:ext uri="{FF2B5EF4-FFF2-40B4-BE49-F238E27FC236}">
                <a16:creationId xmlns:a16="http://schemas.microsoft.com/office/drawing/2014/main" id="{8818F9EE-028C-49B0-A776-E3E4E416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019300"/>
            <a:ext cx="2085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5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6FEA19B8-3700-41DB-A990-53C1DBE6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908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categorías</a:t>
            </a:r>
          </a:p>
        </p:txBody>
      </p:sp>
      <p:sp>
        <p:nvSpPr>
          <p:cNvPr id="16" name="data-rules">
            <a:extLst xmlns:a="http://schemas.openxmlformats.org/drawingml/2006/main">
              <a:ext uri="{FF2B5EF4-FFF2-40B4-BE49-F238E27FC236}">
                <a16:creationId xmlns:a16="http://schemas.microsoft.com/office/drawing/2014/main" id="{4020695C-11EF-4E0C-B8F1-BDBFEC2A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11144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7" name="data-rules-title">
            <a:extLst xmlns:a="http://schemas.openxmlformats.org/drawingml/2006/main">
              <a:ext uri="{FF2B5EF4-FFF2-40B4-BE49-F238E27FC236}">
                <a16:creationId xmlns:a16="http://schemas.microsoft.com/office/drawing/2014/main" id="{72B48FF1-CF09-404A-AAB3-0AA0339E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Validaciones mínimas antes de entrenar</a:t>
            </a:r>
          </a:p>
        </p:txBody>
      </p:sp>
      <p:sp>
        <p:nvSpPr>
          <p:cNvPr id="18" name="data-rules-body">
            <a:extLst xmlns:a="http://schemas.openxmlformats.org/drawingml/2006/main">
              <a:ext uri="{FF2B5EF4-FFF2-40B4-BE49-F238E27FC236}">
                <a16:creationId xmlns:a16="http://schemas.microsoft.com/office/drawing/2014/main" id="{722225BC-BBB8-4EDE-854F-DE0C514C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Sin filas vacías ni ventas negativas.</a:t>
            </a:r>
          </a:p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Fechas en formato YYYY-MM-DD y decimales con punto.</a:t>
            </a:r>
          </a:p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Codificación UTF-8 y separador coma.</a:t>
            </a:r>
          </a:p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La columna objetivo es total_sales.</a:t>
            </a:r>
          </a:p>
        </p:txBody>
      </p:sp>
      <p:sp>
        <p:nvSpPr>
          <p:cNvPr id="19" name="data-zones-title">
            <a:extLst xmlns:a="http://schemas.openxmlformats.org/drawingml/2006/main">
              <a:ext uri="{FF2B5EF4-FFF2-40B4-BE49-F238E27FC236}">
                <a16:creationId xmlns:a16="http://schemas.microsoft.com/office/drawing/2014/main" id="{2F2DA620-C8D3-4DF7-B0A9-A61A9624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Cobertura geográfica</a:t>
            </a:r>
          </a:p>
        </p:txBody>
      </p:sp>
      <p:sp>
        <p:nvSpPr>
          <p:cNvPr id="20" name="data-zones">
            <a:extLst xmlns:a="http://schemas.openxmlformats.org/drawingml/2006/main">
              <a:ext uri="{FF2B5EF4-FFF2-40B4-BE49-F238E27FC236}">
                <a16:creationId xmlns:a16="http://schemas.microsoft.com/office/drawing/2014/main" id="{8E1D61CA-E1C2-4D10-8CA5-B1ACE8ED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Guayaquil · Quito · Cuenca</a:t>
            </a:r>
          </a:p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Manta · Ambato</a:t>
            </a:r>
          </a:p>
        </p:txBody>
      </p:sp>
      <p:sp>
        <p:nvSpPr>
          <p:cNvPr id="21" name="data-cats">
            <a:extLst xmlns:a="http://schemas.openxmlformats.org/drawingml/2006/main">
              <a:ext uri="{FF2B5EF4-FFF2-40B4-BE49-F238E27FC236}">
                <a16:creationId xmlns:a16="http://schemas.microsoft.com/office/drawing/2014/main" id="{212C54DD-0007-4466-BFFA-79131752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006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Alimentos · Bebidas · Limpieza</a:t>
            </a:r>
          </a:p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Cuidado Personal · Electrodomésticos</a:t>
            </a:r>
          </a:p>
        </p:txBody>
      </p:sp>
    </p:spTree>
    <p:extLst>
      <p:ext uri="{BB962C8B-B14F-4D97-AF65-F5344CB8AC3E}">
        <p14:creationId xmlns:p14="http://schemas.microsoft.com/office/powerpoint/2010/main" val="15294618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8B125C-BF13-4373-B697-FFF66D1D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Antes de modelar, confirme que Visual Studio está preparado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CC48E7B-8262-42C8-A554-23062097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Model Builder funciona en Visual Studio para Windows; si falla en 2026, Visual Studio 2022 puede instalarse en paralelo.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7A94BFB-BA2D-435E-9A20-16A6C9B5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check-0">
            <a:extLst xmlns:a="http://schemas.openxmlformats.org/drawingml/2006/main">
              <a:ext uri="{FF2B5EF4-FFF2-40B4-BE49-F238E27FC236}">
                <a16:creationId xmlns:a16="http://schemas.microsoft.com/office/drawing/2014/main" id="{34EE893A-82D7-407B-B364-F4B4AF6A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381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5" name="check-mark-0">
            <a:extLst xmlns:a="http://schemas.openxmlformats.org/drawingml/2006/main">
              <a:ext uri="{FF2B5EF4-FFF2-40B4-BE49-F238E27FC236}">
                <a16:creationId xmlns:a16="http://schemas.microsoft.com/office/drawing/2014/main" id="{2C3F3AF8-6134-4A71-969E-F7AE6A3D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38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check-head-0">
            <a:extLst xmlns:a="http://schemas.openxmlformats.org/drawingml/2006/main">
              <a:ext uri="{FF2B5EF4-FFF2-40B4-BE49-F238E27FC236}">
                <a16:creationId xmlns:a16="http://schemas.microsoft.com/office/drawing/2014/main" id="{8956B2D7-0163-46DB-8FAE-D3B19C73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90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Windows</a:t>
            </a:r>
          </a:p>
        </p:txBody>
      </p:sp>
      <p:sp>
        <p:nvSpPr>
          <p:cNvPr id="7" name="check-body-0">
            <a:extLst xmlns:a="http://schemas.openxmlformats.org/drawingml/2006/main">
              <a:ext uri="{FF2B5EF4-FFF2-40B4-BE49-F238E27FC236}">
                <a16:creationId xmlns:a16="http://schemas.microsoft.com/office/drawing/2014/main" id="{EB1E743B-EDE7-494E-B695-C990A150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193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Windows 11 de 64 bits recomendado.</a:t>
            </a:r>
          </a:p>
        </p:txBody>
      </p:sp>
      <p:sp>
        <p:nvSpPr>
          <p:cNvPr id="8" name="check-1">
            <a:extLst xmlns:a="http://schemas.openxmlformats.org/drawingml/2006/main">
              <a:ext uri="{FF2B5EF4-FFF2-40B4-BE49-F238E27FC236}">
                <a16:creationId xmlns:a16="http://schemas.microsoft.com/office/drawing/2014/main" id="{F8B35FEC-D923-4D3C-966B-84BFD1A1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381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9" name="check-mark-1">
            <a:extLst xmlns:a="http://schemas.openxmlformats.org/drawingml/2006/main">
              <a:ext uri="{FF2B5EF4-FFF2-40B4-BE49-F238E27FC236}">
                <a16:creationId xmlns:a16="http://schemas.microsoft.com/office/drawing/2014/main" id="{A7AD2176-9BAC-4828-BF11-0AC5743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38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check-head-1">
            <a:extLst xmlns:a="http://schemas.openxmlformats.org/drawingml/2006/main">
              <a:ext uri="{FF2B5EF4-FFF2-40B4-BE49-F238E27FC236}">
                <a16:creationId xmlns:a16="http://schemas.microsoft.com/office/drawing/2014/main" id="{483AD1DC-FFA5-4816-B98D-89C0384F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90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Carga de trabajo</a:t>
            </a:r>
          </a:p>
        </p:txBody>
      </p:sp>
      <p:sp>
        <p:nvSpPr>
          <p:cNvPr id="11" name="check-body-1">
            <a:extLst xmlns:a="http://schemas.openxmlformats.org/drawingml/2006/main">
              <a:ext uri="{FF2B5EF4-FFF2-40B4-BE49-F238E27FC236}">
                <a16:creationId xmlns:a16="http://schemas.microsoft.com/office/drawing/2014/main" id="{60B9B744-176D-46F3-AC07-A7DC7956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93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Desarrollo de escritorio de .NET.</a:t>
            </a:r>
          </a:p>
        </p:txBody>
      </p:sp>
      <p:sp>
        <p:nvSpPr>
          <p:cNvPr id="12" name="check-2">
            <a:extLst xmlns:a="http://schemas.openxmlformats.org/drawingml/2006/main">
              <a:ext uri="{FF2B5EF4-FFF2-40B4-BE49-F238E27FC236}">
                <a16:creationId xmlns:a16="http://schemas.microsoft.com/office/drawing/2014/main" id="{2D7095BB-4DDE-4E59-9641-88421CD9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7625"/>
            <a:ext cx="5381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3" name="check-mark-2">
            <a:extLst xmlns:a="http://schemas.openxmlformats.org/drawingml/2006/main">
              <a:ext uri="{FF2B5EF4-FFF2-40B4-BE49-F238E27FC236}">
                <a16:creationId xmlns:a16="http://schemas.microsoft.com/office/drawing/2014/main" id="{075AADFE-0097-493F-A116-E8C06A9A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check-head-2">
            <a:extLst xmlns:a="http://schemas.openxmlformats.org/drawingml/2006/main">
              <a:ext uri="{FF2B5EF4-FFF2-40B4-BE49-F238E27FC236}">
                <a16:creationId xmlns:a16="http://schemas.microsoft.com/office/drawing/2014/main" id="{7D7EF1AA-201C-4BED-BC46-6371718E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Componente</a:t>
            </a:r>
          </a:p>
        </p:txBody>
      </p:sp>
      <p:sp>
        <p:nvSpPr>
          <p:cNvPr id="15" name="check-body-2">
            <a:extLst xmlns:a="http://schemas.openxmlformats.org/drawingml/2006/main">
              <a:ext uri="{FF2B5EF4-FFF2-40B4-BE49-F238E27FC236}">
                <a16:creationId xmlns:a16="http://schemas.microsoft.com/office/drawing/2014/main" id="{F2393E63-7D24-4235-8197-57EC8673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ML.NET Model Builder habilitado.</a:t>
            </a:r>
          </a:p>
        </p:txBody>
      </p:sp>
      <p:sp>
        <p:nvSpPr>
          <p:cNvPr id="16" name="check-3">
            <a:extLst xmlns:a="http://schemas.openxmlformats.org/drawingml/2006/main">
              <a:ext uri="{FF2B5EF4-FFF2-40B4-BE49-F238E27FC236}">
                <a16:creationId xmlns:a16="http://schemas.microsoft.com/office/drawing/2014/main" id="{1E7A438F-5306-4229-A6AE-95ACABD8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5381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7" name="check-mark-3">
            <a:extLst xmlns:a="http://schemas.openxmlformats.org/drawingml/2006/main">
              <a:ext uri="{FF2B5EF4-FFF2-40B4-BE49-F238E27FC236}">
                <a16:creationId xmlns:a16="http://schemas.microsoft.com/office/drawing/2014/main" id="{ADCEBF57-D795-43B4-8C60-BB8EA9E8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43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check-head-3">
            <a:extLst xmlns:a="http://schemas.openxmlformats.org/drawingml/2006/main">
              <a:ext uri="{FF2B5EF4-FFF2-40B4-BE49-F238E27FC236}">
                <a16:creationId xmlns:a16="http://schemas.microsoft.com/office/drawing/2014/main" id="{CA8F505A-0CBD-4506-BADD-9122311B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95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SDK</a:t>
            </a:r>
          </a:p>
        </p:txBody>
      </p:sp>
      <p:sp>
        <p:nvSpPr>
          <p:cNvPr id="19" name="check-body-3">
            <a:extLst xmlns:a="http://schemas.openxmlformats.org/drawingml/2006/main">
              <a:ext uri="{FF2B5EF4-FFF2-40B4-BE49-F238E27FC236}">
                <a16:creationId xmlns:a16="http://schemas.microsoft.com/office/drawing/2014/main" id="{A448E539-3DD1-4FD0-AC8B-A77BC396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243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dotnet --info reconoce una versión instalada.</a:t>
            </a:r>
          </a:p>
        </p:txBody>
      </p:sp>
    </p:spTree>
    <p:extLst>
      <p:ext uri="{BB962C8B-B14F-4D97-AF65-F5344CB8AC3E}">
        <p14:creationId xmlns:p14="http://schemas.microsoft.com/office/powerpoint/2010/main" val="1265935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34D844-957B-497B-823C-5010D1CA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Paso 1–3: abra el proyecto y defina una regresión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F57B2B5-1D08-44F5-B1FA-1BF83048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La elección del escenario conecta el problema de negocio con el tipo de modelo.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19956B6-75DF-4AFA-AE6D-1AD81FBD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498A9BA2-E30A-4D00-8508-036C9AF8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3429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5" name="step-num-1">
            <a:extLst xmlns:a="http://schemas.openxmlformats.org/drawingml/2006/main">
              <a:ext uri="{FF2B5EF4-FFF2-40B4-BE49-F238E27FC236}">
                <a16:creationId xmlns:a16="http://schemas.microsoft.com/office/drawing/2014/main" id="{16A5927F-D85B-4A03-9D80-B5C4F607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19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9"/>
          </a:solidFill>
          <a:ln xmlns:a="http://schemas.openxmlformats.org/drawingml/2006/main" w="0">
            <a:solidFill>
              <a:srgbClr val="0B6E99"/>
            </a:solidFill>
            <a:prstDash val="solid"/>
          </a:ln>
        </p:spPr>
      </p:sp>
      <p:sp>
        <p:nvSpPr>
          <p:cNvPr id="6" name="step-num-text-1">
            <a:extLst xmlns:a="http://schemas.openxmlformats.org/drawingml/2006/main">
              <a:ext uri="{FF2B5EF4-FFF2-40B4-BE49-F238E27FC236}">
                <a16:creationId xmlns:a16="http://schemas.microsoft.com/office/drawing/2014/main" id="{3FEEC048-E882-4B2C-A3BC-F89D34B5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050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step-heading-1">
            <a:extLst xmlns:a="http://schemas.openxmlformats.org/drawingml/2006/main">
              <a:ext uri="{FF2B5EF4-FFF2-40B4-BE49-F238E27FC236}">
                <a16:creationId xmlns:a16="http://schemas.microsoft.com/office/drawing/2014/main" id="{BCC062E6-193E-4C03-9025-EE1B9B28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9812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Abrir SalesPredictionApp</a:t>
            </a:r>
          </a:p>
        </p:txBody>
      </p:sp>
      <p:sp>
        <p:nvSpPr>
          <p:cNvPr id="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FB2530E3-06F4-4DCB-98A1-D16F0C09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050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En Visual Studio, abra SalesPredictionApp.csproj.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C4E8E324-F0A0-4868-8354-4590A37F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429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0" name="step-num-2">
            <a:extLst xmlns:a="http://schemas.openxmlformats.org/drawingml/2006/main">
              <a:ext uri="{FF2B5EF4-FFF2-40B4-BE49-F238E27FC236}">
                <a16:creationId xmlns:a16="http://schemas.microsoft.com/office/drawing/2014/main" id="{44AED85A-5E6E-4688-AB7E-4EF15543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19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9"/>
          </a:solidFill>
          <a:ln xmlns:a="http://schemas.openxmlformats.org/drawingml/2006/main" w="0">
            <a:solidFill>
              <a:srgbClr val="0B6E99"/>
            </a:solidFill>
            <a:prstDash val="solid"/>
          </a:ln>
        </p:spPr>
      </p:sp>
      <p:sp>
        <p:nvSpPr>
          <p:cNvPr id="11" name="step-num-text-2">
            <a:extLst xmlns:a="http://schemas.openxmlformats.org/drawingml/2006/main">
              <a:ext uri="{FF2B5EF4-FFF2-40B4-BE49-F238E27FC236}">
                <a16:creationId xmlns:a16="http://schemas.microsoft.com/office/drawing/2014/main" id="{A89698B2-9363-416F-9D94-EF854E9F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050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step-heading-2">
            <a:extLst xmlns:a="http://schemas.openxmlformats.org/drawingml/2006/main">
              <a:ext uri="{FF2B5EF4-FFF2-40B4-BE49-F238E27FC236}">
                <a16:creationId xmlns:a16="http://schemas.microsoft.com/office/drawing/2014/main" id="{497F5C4A-F97E-4F69-9D5F-927D0D88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812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Agregar el modelo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AF2ECF8F-E023-46EB-90CC-9BF1B5BB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050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8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Clic derecho en el proyecto → Agregar → Modelo de Machine Learning. Nombre: SalesModel.mbconfig.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4F45FFA2-C7A4-464B-98E4-E755FE04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3429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5" name="step-num-3">
            <a:extLst xmlns:a="http://schemas.openxmlformats.org/drawingml/2006/main">
              <a:ext uri="{FF2B5EF4-FFF2-40B4-BE49-F238E27FC236}">
                <a16:creationId xmlns:a16="http://schemas.microsoft.com/office/drawing/2014/main" id="{59A5A1E7-4444-4465-89EA-F37E16FD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019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9"/>
          </a:solidFill>
          <a:ln xmlns:a="http://schemas.openxmlformats.org/drawingml/2006/main" w="0">
            <a:solidFill>
              <a:srgbClr val="0B6E99"/>
            </a:solidFill>
            <a:prstDash val="solid"/>
          </a:ln>
        </p:spPr>
      </p:sp>
      <p:sp>
        <p:nvSpPr>
          <p:cNvPr id="16" name="step-num-text-3">
            <a:extLst xmlns:a="http://schemas.openxmlformats.org/drawingml/2006/main">
              <a:ext uri="{FF2B5EF4-FFF2-40B4-BE49-F238E27FC236}">
                <a16:creationId xmlns:a16="http://schemas.microsoft.com/office/drawing/2014/main" id="{D2DBA630-FBFD-4216-B328-79C49003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step-heading-3">
            <a:extLst xmlns:a="http://schemas.openxmlformats.org/drawingml/2006/main">
              <a:ext uri="{FF2B5EF4-FFF2-40B4-BE49-F238E27FC236}">
                <a16:creationId xmlns:a16="http://schemas.microsoft.com/office/drawing/2014/main" id="{3A5A949A-1B7B-44AE-A17A-C10D8ABB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Elegir el escenario</a:t>
            </a:r>
          </a:p>
        </p:txBody>
      </p:sp>
      <p:sp>
        <p:nvSpPr>
          <p:cNvPr id="18" name="step-body-3">
            <a:extLst xmlns:a="http://schemas.openxmlformats.org/drawingml/2006/main">
              <a:ext uri="{FF2B5EF4-FFF2-40B4-BE49-F238E27FC236}">
                <a16:creationId xmlns:a16="http://schemas.microsoft.com/office/drawing/2014/main" id="{4302361F-64E3-4955-93BE-638DA54B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050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Seleccione Predicción de valor / Regresión porque total_sales es un valor numérico continuo.</a:t>
            </a:r>
          </a:p>
        </p:txBody>
      </p:sp>
      <p:sp>
        <p:nvSpPr>
          <p:cNvPr id="19" name="why-regression">
            <a:extLst xmlns:a="http://schemas.openxmlformats.org/drawingml/2006/main">
              <a:ext uri="{FF2B5EF4-FFF2-40B4-BE49-F238E27FC236}">
                <a16:creationId xmlns:a16="http://schemas.microsoft.com/office/drawing/2014/main" id="{C3F7428B-2E55-4675-9FE2-AD2256B9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11144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20" name="why-regression-title">
            <a:extLst xmlns:a="http://schemas.openxmlformats.org/drawingml/2006/main">
              <a:ext uri="{FF2B5EF4-FFF2-40B4-BE49-F238E27FC236}">
                <a16:creationId xmlns:a16="http://schemas.microsoft.com/office/drawing/2014/main" id="{53FE4392-CF07-4A3F-8A0E-DEE9D44F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Decisión clave</a:t>
            </a:r>
          </a:p>
        </p:txBody>
      </p:sp>
      <p:sp>
        <p:nvSpPr>
          <p:cNvPr id="21" name="why-regression-body">
            <a:extLst xmlns:a="http://schemas.openxmlformats.org/drawingml/2006/main">
              <a:ext uri="{FF2B5EF4-FFF2-40B4-BE49-F238E27FC236}">
                <a16:creationId xmlns:a16="http://schemas.microsoft.com/office/drawing/2014/main" id="{AD049804-D5BE-48B1-9DB1-7A66AE18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No se busca clasificar una venta como “alta” o “baja”. El objetivo es estimar directamente el monto total de cada operación.</a:t>
            </a:r>
          </a:p>
        </p:txBody>
      </p:sp>
    </p:spTree>
    <p:extLst>
      <p:ext uri="{BB962C8B-B14F-4D97-AF65-F5344CB8AC3E}">
        <p14:creationId xmlns:p14="http://schemas.microsoft.com/office/powerpoint/2010/main" val="3649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3226BF-3E70-4965-9151-8D275BA5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Paso 4–5: entrene localmente con el CSV correcto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C60D0D-4C07-49CF-AF81-5B67DB3F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Una configuración simple es suficiente para este conjunto de 3.000 registros.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2EBA759-099D-42FD-A2D3-E877F7CA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env">
            <a:extLst xmlns:a="http://schemas.openxmlformats.org/drawingml/2006/main">
              <a:ext uri="{FF2B5EF4-FFF2-40B4-BE49-F238E27FC236}">
                <a16:creationId xmlns:a16="http://schemas.microsoft.com/office/drawing/2014/main" id="{B0BD9CD4-255C-46FA-B6B7-954C4C21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4905375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5" name="pill-ENTORNO">
            <a:extLst xmlns:a="http://schemas.openxmlformats.org/drawingml/2006/main">
              <a:ext uri="{FF2B5EF4-FFF2-40B4-BE49-F238E27FC236}">
                <a16:creationId xmlns:a16="http://schemas.microsoft.com/office/drawing/2014/main" id="{AE0C6506-314F-400E-A2CE-41066A25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19062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6" name="pill-text-ENTORNO">
            <a:extLst xmlns:a="http://schemas.openxmlformats.org/drawingml/2006/main">
              <a:ext uri="{FF2B5EF4-FFF2-40B4-BE49-F238E27FC236}">
                <a16:creationId xmlns:a16="http://schemas.microsoft.com/office/drawing/2014/main" id="{E04F843F-E027-4F64-9F60-F6027EBF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962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ENTORNO</a:t>
            </a:r>
          </a:p>
        </p:txBody>
      </p:sp>
      <p:sp>
        <p:nvSpPr>
          <p:cNvPr id="7" name="env-title">
            <a:extLst xmlns:a="http://schemas.openxmlformats.org/drawingml/2006/main">
              <a:ext uri="{FF2B5EF4-FFF2-40B4-BE49-F238E27FC236}">
                <a16:creationId xmlns:a16="http://schemas.microsoft.com/office/drawing/2014/main" id="{4C2F1658-F7A4-4482-AD7A-094F7FF7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Local (CPU)</a:t>
            </a:r>
          </a:p>
        </p:txBody>
      </p:sp>
      <p:sp>
        <p:nvSpPr>
          <p:cNvPr id="8" name="env-body">
            <a:extLst xmlns:a="http://schemas.openxmlformats.org/drawingml/2006/main">
              <a:ext uri="{FF2B5EF4-FFF2-40B4-BE49-F238E27FC236}">
                <a16:creationId xmlns:a16="http://schemas.microsoft.com/office/drawing/2014/main" id="{26ACE453-E2DD-4505-88DE-44851343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Usa los recursos del equipo.</a:t>
            </a:r>
          </a:p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No requiere aprovisionar servicios en la nube.</a:t>
            </a:r>
          </a:p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Cierre aplicaciones pesadas antes de entrenar.</a:t>
            </a:r>
          </a:p>
        </p:txBody>
      </p:sp>
      <p:sp>
        <p:nvSpPr>
          <p:cNvPr id="9" name="data">
            <a:extLst xmlns:a="http://schemas.openxmlformats.org/drawingml/2006/main">
              <a:ext uri="{FF2B5EF4-FFF2-40B4-BE49-F238E27FC236}">
                <a16:creationId xmlns:a16="http://schemas.microsoft.com/office/drawing/2014/main" id="{8E28F868-B553-4619-91B8-F67BDFE0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476875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0" name="pill-DATOS">
            <a:extLst xmlns:a="http://schemas.openxmlformats.org/drawingml/2006/main">
              <a:ext uri="{FF2B5EF4-FFF2-40B4-BE49-F238E27FC236}">
                <a16:creationId xmlns:a16="http://schemas.microsoft.com/office/drawing/2014/main" id="{603888BD-18B6-41C6-890C-C2BB33FC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1047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11" name="pill-text-DATOS">
            <a:extLst xmlns:a="http://schemas.openxmlformats.org/drawingml/2006/main">
              <a:ext uri="{FF2B5EF4-FFF2-40B4-BE49-F238E27FC236}">
                <a16:creationId xmlns:a16="http://schemas.microsoft.com/office/drawing/2014/main" id="{C2D61DCA-BC20-46A7-AD23-B5F6EBE0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145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DATOS</a:t>
            </a:r>
          </a:p>
        </p:txBody>
      </p:sp>
      <p:sp>
        <p:nvSpPr>
          <p:cNvPr id="12" name="data-title">
            <a:extLst xmlns:a="http://schemas.openxmlformats.org/drawingml/2006/main">
              <a:ext uri="{FF2B5EF4-FFF2-40B4-BE49-F238E27FC236}">
                <a16:creationId xmlns:a16="http://schemas.microsoft.com/office/drawing/2014/main" id="{BA662CE0-0B28-42F8-9519-AC76D970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67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ventas_sinteticas_2025.csv</a:t>
            </a:r>
          </a:p>
        </p:txBody>
      </p:sp>
      <p:sp>
        <p:nvSpPr>
          <p:cNvPr id="13" name="data-body">
            <a:extLst xmlns:a="http://schemas.openxmlformats.org/drawingml/2006/main">
              <a:ext uri="{FF2B5EF4-FFF2-40B4-BE49-F238E27FC236}">
                <a16:creationId xmlns:a16="http://schemas.microsoft.com/office/drawing/2014/main" id="{D5E9A2D9-8B0E-4AF1-ABC2-C4B2142F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33750"/>
            <a:ext cx="4762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Tipo de entrada: Archivo.</a:t>
            </a:r>
          </a:p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Revise la vista previa de columnas.</a:t>
            </a:r>
          </a:p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Etiqueta / Label: total_sales.</a:t>
            </a:r>
          </a:p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Confirme que el separador y los tipos sean correctos.</a:t>
            </a:r>
          </a:p>
        </p:txBody>
      </p:sp>
    </p:spTree>
    <p:extLst>
      <p:ext uri="{BB962C8B-B14F-4D97-AF65-F5344CB8AC3E}">
        <p14:creationId xmlns:p14="http://schemas.microsoft.com/office/powerpoint/2010/main" val="19421231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546361-CB50-4562-BAB1-AB2F9A4F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Paso 6–7: AutoML compara algoritmos; usted interpreta las métricas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DC071A-4D99-494E-87A5-1B211FBE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Para 3.000 registros, un tiempo de entrenamiento de 30–60 segundos suele ser suficiente.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F85CEE5-A186-4856-B82F-9FCE8592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23875" y="1905000"/>
          <a:ext xmlns:a="http://schemas.openxmlformats.org/drawingml/2006/main" cx="4953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2985dffa2246e9"/>
          </a:graphicData>
        </a:graphic>
      </p:graphicFrame>
      <p:sp>
        <p:nvSpPr>
          <p:cNvPr id="5" name="metric-r2">
            <a:extLst xmlns:a="http://schemas.openxmlformats.org/drawingml/2006/main">
              <a:ext uri="{FF2B5EF4-FFF2-40B4-BE49-F238E27FC236}">
                <a16:creationId xmlns:a16="http://schemas.microsoft.com/office/drawing/2014/main" id="{E5BCCE9D-3A6A-413D-8571-3A2BD03B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5572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6" name="metric-r2-h">
            <a:extLst xmlns:a="http://schemas.openxmlformats.org/drawingml/2006/main">
              <a:ext uri="{FF2B5EF4-FFF2-40B4-BE49-F238E27FC236}">
                <a16:creationId xmlns:a16="http://schemas.microsoft.com/office/drawing/2014/main" id="{0D9206FE-AE9E-4B59-8D64-E3CD99E5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76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R²</a:t>
            </a:r>
          </a:p>
        </p:txBody>
      </p:sp>
      <p:sp>
        <p:nvSpPr>
          <p:cNvPr id="7" name="metric-r2-b">
            <a:extLst xmlns:a="http://schemas.openxmlformats.org/drawingml/2006/main">
              <a:ext uri="{FF2B5EF4-FFF2-40B4-BE49-F238E27FC236}">
                <a16:creationId xmlns:a16="http://schemas.microsoft.com/office/drawing/2014/main" id="{BE94A019-9F08-467B-9F16-09C6A981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955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Más cercano a 1 indica mejor ajuste general.</a:t>
            </a:r>
          </a:p>
        </p:txBody>
      </p:sp>
      <p:sp>
        <p:nvSpPr>
          <p:cNvPr id="8" name="metric-rmse">
            <a:extLst xmlns:a="http://schemas.openxmlformats.org/drawingml/2006/main">
              <a:ext uri="{FF2B5EF4-FFF2-40B4-BE49-F238E27FC236}">
                <a16:creationId xmlns:a16="http://schemas.microsoft.com/office/drawing/2014/main" id="{2BB0AE0D-1FFF-4E45-B70C-3C56D303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5625"/>
            <a:ext cx="5572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9" name="metric-rmse-h">
            <a:extLst xmlns:a="http://schemas.openxmlformats.org/drawingml/2006/main">
              <a:ext uri="{FF2B5EF4-FFF2-40B4-BE49-F238E27FC236}">
                <a16:creationId xmlns:a16="http://schemas.microsoft.com/office/drawing/2014/main" id="{19F12DF6-F270-41A0-B13B-88266F39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147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47C3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47C3C"/>
                </a:solidFill>
                <a:latin typeface="Aptos"/>
                <a:ea typeface="Aptos"/>
                <a:cs typeface="Aptos"/>
              </a:rPr>
              <a:t>RMSE</a:t>
            </a:r>
          </a:p>
        </p:txBody>
      </p:sp>
      <p:sp>
        <p:nvSpPr>
          <p:cNvPr id="10" name="metric-rmse-b">
            <a:extLst xmlns:a="http://schemas.openxmlformats.org/drawingml/2006/main">
              <a:ext uri="{FF2B5EF4-FFF2-40B4-BE49-F238E27FC236}">
                <a16:creationId xmlns:a16="http://schemas.microsoft.com/office/drawing/2014/main" id="{4E202506-7228-4CEC-B3C9-770074AA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337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Penaliza con más fuerza los errores grandes.</a:t>
            </a:r>
          </a:p>
        </p:txBody>
      </p:sp>
      <p:sp>
        <p:nvSpPr>
          <p:cNvPr id="11" name="metric-mae">
            <a:extLst xmlns:a="http://schemas.openxmlformats.org/drawingml/2006/main">
              <a:ext uri="{FF2B5EF4-FFF2-40B4-BE49-F238E27FC236}">
                <a16:creationId xmlns:a16="http://schemas.microsoft.com/office/drawing/2014/main" id="{7E64AA0D-7675-4DCE-A09A-F98EBFD2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33875"/>
            <a:ext cx="5572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2" name="metric-mae-h">
            <a:extLst xmlns:a="http://schemas.openxmlformats.org/drawingml/2006/main">
              <a:ext uri="{FF2B5EF4-FFF2-40B4-BE49-F238E27FC236}">
                <a16:creationId xmlns:a16="http://schemas.microsoft.com/office/drawing/2014/main" id="{C26B3BE9-6008-43FD-B15B-A513CC4A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529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MAE</a:t>
            </a:r>
          </a:p>
        </p:txBody>
      </p:sp>
      <p:sp>
        <p:nvSpPr>
          <p:cNvPr id="13" name="metric-mae-b">
            <a:extLst xmlns:a="http://schemas.openxmlformats.org/drawingml/2006/main">
              <a:ext uri="{FF2B5EF4-FFF2-40B4-BE49-F238E27FC236}">
                <a16:creationId xmlns:a16="http://schemas.microsoft.com/office/drawing/2014/main" id="{087AF7B2-929E-4442-85E1-D6E2EFD3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720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Resume el error absoluto medio en moneda.</a:t>
            </a:r>
          </a:p>
        </p:txBody>
      </p:sp>
      <p:sp>
        <p:nvSpPr>
          <p:cNvPr id="14" name="metric-note">
            <a:extLst xmlns:a="http://schemas.openxmlformats.org/drawingml/2006/main">
              <a:ext uri="{FF2B5EF4-FFF2-40B4-BE49-F238E27FC236}">
                <a16:creationId xmlns:a16="http://schemas.microsoft.com/office/drawing/2014/main" id="{55E26FCB-7AFE-489E-9B94-B531FB3D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19750"/>
            <a:ext cx="557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Capture la pantalla del mejor modelo y sus métricas para la entrega.</a:t>
            </a:r>
          </a:p>
        </p:txBody>
      </p:sp>
    </p:spTree>
    <p:extLst>
      <p:ext uri="{BB962C8B-B14F-4D97-AF65-F5344CB8AC3E}">
        <p14:creationId xmlns:p14="http://schemas.microsoft.com/office/powerpoint/2010/main" val="5403921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535065-8338-4270-AF68-BBC8D51B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Paso 8: conecte el código generado y elimine la simulación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3DEC8F-5DF1-4B22-80A2-C42979E9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Model Builder crea el modelo serializado y clases C# para entrenar y consumir predicciones.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B04DDDC-C943-41F3-B353-554D6F69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generated">
            <a:extLst xmlns:a="http://schemas.openxmlformats.org/drawingml/2006/main">
              <a:ext uri="{FF2B5EF4-FFF2-40B4-BE49-F238E27FC236}">
                <a16:creationId xmlns:a16="http://schemas.microsoft.com/office/drawing/2014/main" id="{99D3D990-141A-45B5-BF0E-26CC9CA1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4857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5" name="generated-title">
            <a:extLst xmlns:a="http://schemas.openxmlformats.org/drawingml/2006/main">
              <a:ext uri="{FF2B5EF4-FFF2-40B4-BE49-F238E27FC236}">
                <a16:creationId xmlns:a16="http://schemas.microsoft.com/office/drawing/2014/main" id="{4252F95C-BAFF-4076-A4CE-0448197A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Archivos esperados</a:t>
            </a:r>
          </a:p>
        </p:txBody>
      </p:sp>
      <p:sp>
        <p:nvSpPr>
          <p:cNvPr id="6" name="generated-list">
            <a:extLst xmlns:a="http://schemas.openxmlformats.org/drawingml/2006/main">
              <a:ext uri="{FF2B5EF4-FFF2-40B4-BE49-F238E27FC236}">
                <a16:creationId xmlns:a16="http://schemas.microsoft.com/office/drawing/2014/main" id="{E502E3A9-0F73-4094-AED4-0187F0D5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SalesModel.mlnet</a:t>
            </a:r>
          </a:p>
          <a:p xmlns:a="http://schemas.openxmlformats.org/drawingml/2006/main">
            <a:pPr algn="l">
              <a:defRPr sz="15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SalesModel.consumption.cs</a:t>
            </a:r>
          </a:p>
          <a:p xmlns:a="http://schemas.openxmlformats.org/drawingml/2006/main">
            <a:pPr algn="l">
              <a:defRPr sz="15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SalesModel.training.cs</a:t>
            </a:r>
          </a:p>
          <a:p xmlns:a="http://schemas.openxmlformats.org/drawingml/2006/main">
            <a:pPr algn="l">
              <a:defRPr sz="15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SalesModel.evaluate.cs</a:t>
            </a:r>
          </a:p>
        </p:txBody>
      </p:sp>
      <p:sp>
        <p:nvSpPr>
          <p:cNvPr id="7" name="generated-foot">
            <a:extLst xmlns:a="http://schemas.openxmlformats.org/drawingml/2006/main">
              <a:ext uri="{FF2B5EF4-FFF2-40B4-BE49-F238E27FC236}">
                <a16:creationId xmlns:a16="http://schemas.microsoft.com/office/drawing/2014/main" id="{AD79D3F8-6462-453A-B83C-64870A87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6E99"/>
                </a:solidFill>
                <a:latin typeface="Aptos"/>
                <a:ea typeface="Aptos"/>
                <a:cs typeface="Aptos"/>
              </a:rPr>
              <a:t>El nombre exacto depende del nombre asignado al modelo.</a:t>
            </a:r>
          </a:p>
        </p:txBody>
      </p:sp>
      <p:sp>
        <p:nvSpPr>
          <p:cNvPr id="8" name="program">
            <a:extLst xmlns:a="http://schemas.openxmlformats.org/drawingml/2006/main">
              <a:ext uri="{FF2B5EF4-FFF2-40B4-BE49-F238E27FC236}">
                <a16:creationId xmlns:a16="http://schemas.microsoft.com/office/drawing/2014/main" id="{1021E335-AA6C-40D2-A377-17E8AD99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572125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83B4C"/>
          </a:solidFill>
          <a:ln xmlns:a="http://schemas.openxmlformats.org/drawingml/2006/main" w="9525">
            <a:solidFill>
              <a:srgbClr val="083B4C"/>
            </a:solidFill>
            <a:prstDash val="solid"/>
          </a:ln>
        </p:spPr>
      </p:sp>
      <p:sp>
        <p:nvSpPr>
          <p:cNvPr id="9" name="program-title">
            <a:extLst xmlns:a="http://schemas.openxmlformats.org/drawingml/2006/main">
              <a:ext uri="{FF2B5EF4-FFF2-40B4-BE49-F238E27FC236}">
                <a16:creationId xmlns:a16="http://schemas.microsoft.com/office/drawing/2014/main" id="{309E02E4-C72B-4865-9FC9-DCD4B667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Cambios en Program.cs</a:t>
            </a:r>
          </a:p>
        </p:txBody>
      </p:sp>
      <p:sp>
        <p:nvSpPr>
          <p:cNvPr id="10" name="program-list">
            <a:extLst xmlns:a="http://schemas.openxmlformats.org/drawingml/2006/main">
              <a:ext uri="{FF2B5EF4-FFF2-40B4-BE49-F238E27FC236}">
                <a16:creationId xmlns:a16="http://schemas.microsoft.com/office/drawing/2014/main" id="{05C26D67-0F37-4960-8D72-093C69A2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E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6EEF2"/>
                </a:solidFill>
                <a:latin typeface="Aptos"/>
                <a:ea typeface="Aptos"/>
                <a:cs typeface="Aptos"/>
              </a:rPr>
              <a:t>• Descomentar SalesModel.ModelInput.</a:t>
            </a:r>
          </a:p>
          <a:p xmlns:a="http://schemas.openxmlformats.org/drawingml/2006/main">
            <a:pPr algn="l">
              <a:defRPr sz="1500" b="0">
                <a:solidFill>
                  <a:srgbClr val="D6EE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6EEF2"/>
                </a:solidFill>
                <a:latin typeface="Aptos"/>
                <a:ea typeface="Aptos"/>
                <a:cs typeface="Aptos"/>
              </a:rPr>
              <a:t>• Usar SalesModel.Predict(...).</a:t>
            </a:r>
          </a:p>
          <a:p xmlns:a="http://schemas.openxmlformats.org/drawingml/2006/main">
            <a:pPr algn="l">
              <a:defRPr sz="1500" b="0">
                <a:solidFill>
                  <a:srgbClr val="D6EE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6EEF2"/>
                </a:solidFill>
                <a:latin typeface="Aptos"/>
                <a:ea typeface="Aptos"/>
                <a:cs typeface="Aptos"/>
              </a:rPr>
              <a:t>• Eliminar Random y el bloque ±5 %.</a:t>
            </a:r>
          </a:p>
          <a:p xmlns:a="http://schemas.openxmlformats.org/drawingml/2006/main">
            <a:pPr algn="l">
              <a:defRPr sz="1500" b="0">
                <a:solidFill>
                  <a:srgbClr val="D6EE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6EEF2"/>
                </a:solidFill>
                <a:latin typeface="Aptos"/>
                <a:ea typeface="Aptos"/>
                <a:cs typeface="Aptos"/>
              </a:rPr>
              <a:t>• Mantener CultureInfo.InvariantCulture.</a:t>
            </a:r>
          </a:p>
        </p:txBody>
      </p:sp>
      <p:sp>
        <p:nvSpPr>
          <p:cNvPr id="11" name="program-warning">
            <a:extLst xmlns:a="http://schemas.openxmlformats.org/drawingml/2006/main">
              <a:ext uri="{FF2B5EF4-FFF2-40B4-BE49-F238E27FC236}">
                <a16:creationId xmlns:a16="http://schemas.microsoft.com/office/drawing/2014/main" id="{D4994FAC-3775-42CF-800A-D6F5FE45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6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CCA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CCAA"/>
                </a:solidFill>
                <a:latin typeface="Aptos"/>
                <a:ea typeface="Aptos"/>
                <a:cs typeface="Aptos"/>
              </a:rPr>
              <a:t>Mientras exista la simulación, el CSV no representa un modelo real.</a:t>
            </a:r>
          </a:p>
        </p:txBody>
      </p:sp>
    </p:spTree>
    <p:extLst>
      <p:ext uri="{BB962C8B-B14F-4D97-AF65-F5344CB8AC3E}">
        <p14:creationId xmlns:p14="http://schemas.microsoft.com/office/powerpoint/2010/main" val="8924843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07C701-5C18-4444-8AF5-8B9E21DB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ejecución debe producir 3.000 predicciones comparables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E1E8AFE-F607-4B0D-828C-F57B24E0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Compile sin AppHost si Windows bloquea el ejecutable nativo.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B6C2B02-A5D0-456F-AFB2-4ECB748B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commands">
            <a:extLst xmlns:a="http://schemas.openxmlformats.org/drawingml/2006/main">
              <a:ext uri="{FF2B5EF4-FFF2-40B4-BE49-F238E27FC236}">
                <a16:creationId xmlns:a16="http://schemas.microsoft.com/office/drawing/2014/main" id="{B3CC6181-E15B-437C-8A44-E1C65763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11144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83B4C"/>
          </a:solidFill>
          <a:ln xmlns:a="http://schemas.openxmlformats.org/drawingml/2006/main" w="9525">
            <a:solidFill>
              <a:srgbClr val="083B4C"/>
            </a:solidFill>
            <a:prstDash val="solid"/>
          </a:ln>
        </p:spPr>
      </p:sp>
      <p:sp>
        <p:nvSpPr>
          <p:cNvPr id="5" name="commands-text">
            <a:extLst xmlns:a="http://schemas.openxmlformats.org/drawingml/2006/main">
              <a:ext uri="{FF2B5EF4-FFF2-40B4-BE49-F238E27FC236}">
                <a16:creationId xmlns:a16="http://schemas.microsoft.com/office/drawing/2014/main" id="{F6E38C21-C177-495A-B973-926ACF49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dotnet build -p:UseAppHost=false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dotnet run -p:UseAppHost=false --no-launch-profile</a:t>
            </a:r>
          </a:p>
        </p:txBody>
      </p:sp>
      <p:sp>
        <p:nvSpPr>
          <p:cNvPr id="6" name="col-0">
            <a:extLst xmlns:a="http://schemas.openxmlformats.org/drawingml/2006/main">
              <a:ext uri="{FF2B5EF4-FFF2-40B4-BE49-F238E27FC236}">
                <a16:creationId xmlns:a16="http://schemas.microsoft.com/office/drawing/2014/main" id="{9EFFD46D-1993-4326-BF90-6FEE7731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2428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7" name="col-name-0">
            <a:extLst xmlns:a="http://schemas.openxmlformats.org/drawingml/2006/main">
              <a:ext uri="{FF2B5EF4-FFF2-40B4-BE49-F238E27FC236}">
                <a16:creationId xmlns:a16="http://schemas.microsoft.com/office/drawing/2014/main" id="{11EABD91-ED54-4E28-87F8-531C1230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real_sales</a:t>
            </a:r>
          </a:p>
        </p:txBody>
      </p:sp>
      <p:sp>
        <p:nvSpPr>
          <p:cNvPr id="8" name="col-desc-0">
            <a:extLst xmlns:a="http://schemas.openxmlformats.org/drawingml/2006/main">
              <a:ext uri="{FF2B5EF4-FFF2-40B4-BE49-F238E27FC236}">
                <a16:creationId xmlns:a16="http://schemas.microsoft.com/office/drawing/2014/main" id="{551F31FD-5AFE-4018-9087-AB34AB22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valor observado</a:t>
            </a:r>
          </a:p>
        </p:txBody>
      </p:sp>
      <p:sp>
        <p:nvSpPr>
          <p:cNvPr id="9" name="col-1">
            <a:extLst xmlns:a="http://schemas.openxmlformats.org/drawingml/2006/main">
              <a:ext uri="{FF2B5EF4-FFF2-40B4-BE49-F238E27FC236}">
                <a16:creationId xmlns:a16="http://schemas.microsoft.com/office/drawing/2014/main" id="{B52032D5-121B-4F50-85EE-19FB9618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62375"/>
            <a:ext cx="2428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10" name="col-name-1">
            <a:extLst xmlns:a="http://schemas.openxmlformats.org/drawingml/2006/main">
              <a:ext uri="{FF2B5EF4-FFF2-40B4-BE49-F238E27FC236}">
                <a16:creationId xmlns:a16="http://schemas.microsoft.com/office/drawing/2014/main" id="{44FE0DAC-046C-46B1-9AE4-5CA27050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481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predicted_sales</a:t>
            </a:r>
          </a:p>
        </p:txBody>
      </p:sp>
      <p:sp>
        <p:nvSpPr>
          <p:cNvPr id="11" name="col-desc-1">
            <a:extLst xmlns:a="http://schemas.openxmlformats.org/drawingml/2006/main">
              <a:ext uri="{FF2B5EF4-FFF2-40B4-BE49-F238E27FC236}">
                <a16:creationId xmlns:a16="http://schemas.microsoft.com/office/drawing/2014/main" id="{F3A1A7F0-2F20-4232-951A-8D47BFFB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estimación del modelo</a:t>
            </a:r>
          </a:p>
        </p:txBody>
      </p:sp>
      <p:sp>
        <p:nvSpPr>
          <p:cNvPr id="12" name="col-2">
            <a:extLst xmlns:a="http://schemas.openxmlformats.org/drawingml/2006/main">
              <a:ext uri="{FF2B5EF4-FFF2-40B4-BE49-F238E27FC236}">
                <a16:creationId xmlns:a16="http://schemas.microsoft.com/office/drawing/2014/main" id="{5231A5C4-9049-4CD7-81BA-D68386CF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62375"/>
            <a:ext cx="2428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3" name="col-name-2">
            <a:extLst xmlns:a="http://schemas.openxmlformats.org/drawingml/2006/main">
              <a:ext uri="{FF2B5EF4-FFF2-40B4-BE49-F238E27FC236}">
                <a16:creationId xmlns:a16="http://schemas.microsoft.com/office/drawing/2014/main" id="{52583A78-1370-4004-A391-487E0907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difference</a:t>
            </a:r>
          </a:p>
        </p:txBody>
      </p:sp>
      <p:sp>
        <p:nvSpPr>
          <p:cNvPr id="14" name="col-desc-2">
            <a:extLst xmlns:a="http://schemas.openxmlformats.org/drawingml/2006/main">
              <a:ext uri="{FF2B5EF4-FFF2-40B4-BE49-F238E27FC236}">
                <a16:creationId xmlns:a16="http://schemas.microsoft.com/office/drawing/2014/main" id="{2D3DF669-3BED-41A9-98B2-5AD0DA10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desviación monetaria</a:t>
            </a:r>
          </a:p>
        </p:txBody>
      </p:sp>
      <p:sp>
        <p:nvSpPr>
          <p:cNvPr id="15" name="col-3">
            <a:extLst xmlns:a="http://schemas.openxmlformats.org/drawingml/2006/main">
              <a:ext uri="{FF2B5EF4-FFF2-40B4-BE49-F238E27FC236}">
                <a16:creationId xmlns:a16="http://schemas.microsoft.com/office/drawing/2014/main" id="{64624476-D889-4359-8825-5E2BB037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62375"/>
            <a:ext cx="2428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16" name="col-name-3">
            <a:extLst xmlns:a="http://schemas.openxmlformats.org/drawingml/2006/main">
              <a:ext uri="{FF2B5EF4-FFF2-40B4-BE49-F238E27FC236}">
                <a16:creationId xmlns:a16="http://schemas.microsoft.com/office/drawing/2014/main" id="{F325B7AE-DBF1-4084-BD5A-EF2133D5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481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percentage_error</a:t>
            </a:r>
          </a:p>
        </p:txBody>
      </p:sp>
      <p:sp>
        <p:nvSpPr>
          <p:cNvPr id="17" name="col-desc-3">
            <a:extLst xmlns:a="http://schemas.openxmlformats.org/drawingml/2006/main">
              <a:ext uri="{FF2B5EF4-FFF2-40B4-BE49-F238E27FC236}">
                <a16:creationId xmlns:a16="http://schemas.microsoft.com/office/drawing/2014/main" id="{D4652EF3-ACBD-41E6-8EC4-38EE5ED0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error relativo</a:t>
            </a:r>
          </a:p>
        </p:txBody>
      </p:sp>
      <p:sp>
        <p:nvSpPr>
          <p:cNvPr id="18" name="row-check">
            <a:extLst xmlns:a="http://schemas.openxmlformats.org/drawingml/2006/main">
              <a:ext uri="{FF2B5EF4-FFF2-40B4-BE49-F238E27FC236}">
                <a16:creationId xmlns:a16="http://schemas.microsoft.com/office/drawing/2014/main" id="{F31C7614-A43F-48DC-A9F7-42A72E7B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Control final: 3.000 filas de datos + 1 encabezado.</a:t>
            </a:r>
          </a:p>
        </p:txBody>
      </p:sp>
    </p:spTree>
    <p:extLst>
      <p:ext uri="{BB962C8B-B14F-4D97-AF65-F5344CB8AC3E}">
        <p14:creationId xmlns:p14="http://schemas.microsoft.com/office/powerpoint/2010/main" val="6637689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8BB8B8-D01C-4444-B2C9-F798D614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El dashboard convierte el error del modelo en decisiones de negocio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A08B626-00E3-4CC6-9CDF-1EC641C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Compare ventas reales y predichas por tiempo, categoría y zona.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4BFC925-6A7A-44FF-A26A-97D73E12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23875" y="1857375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a852554aff4c35"/>
          </a:graphicData>
        </a:graphic>
      </p:graphicFrame>
      <p:sp>
        <p:nvSpPr>
          <p:cNvPr id="5" name="q-0">
            <a:extLst xmlns:a="http://schemas.openxmlformats.org/drawingml/2006/main">
              <a:ext uri="{FF2B5EF4-FFF2-40B4-BE49-F238E27FC236}">
                <a16:creationId xmlns:a16="http://schemas.microsoft.com/office/drawing/2014/main" id="{84D8AC66-F558-4DEF-829B-9A72DC48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57375"/>
            <a:ext cx="4810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6" name="q-head-0">
            <a:extLst xmlns:a="http://schemas.openxmlformats.org/drawingml/2006/main">
              <a:ext uri="{FF2B5EF4-FFF2-40B4-BE49-F238E27FC236}">
                <a16:creationId xmlns:a16="http://schemas.microsoft.com/office/drawing/2014/main" id="{7175FD03-6405-49DA-86B9-F781CADE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¿Cuándo?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9FC0DD75-52EF-4258-AD2B-6A34EBDC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Tendencia mensual y estacionalidad.</a:t>
            </a:r>
          </a:p>
        </p:txBody>
      </p:sp>
      <p:sp>
        <p:nvSpPr>
          <p:cNvPr id="8" name="q-1">
            <a:extLst xmlns:a="http://schemas.openxmlformats.org/drawingml/2006/main">
              <a:ext uri="{FF2B5EF4-FFF2-40B4-BE49-F238E27FC236}">
                <a16:creationId xmlns:a16="http://schemas.microsoft.com/office/drawing/2014/main" id="{5EFF26D3-1F03-4868-9D95-26595F6C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9875"/>
            <a:ext cx="4810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9" name="q-head-1">
            <a:extLst xmlns:a="http://schemas.openxmlformats.org/drawingml/2006/main">
              <a:ext uri="{FF2B5EF4-FFF2-40B4-BE49-F238E27FC236}">
                <a16:creationId xmlns:a16="http://schemas.microsoft.com/office/drawing/2014/main" id="{3D3E37B1-32A7-4311-A50B-A70D16B7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¿Dónde?</a:t>
            </a:r>
          </a:p>
        </p:txBody>
      </p:sp>
      <p:sp>
        <p:nvSpPr>
          <p:cNvPr id="10" name="q-body-1">
            <a:extLst xmlns:a="http://schemas.openxmlformats.org/drawingml/2006/main">
              <a:ext uri="{FF2B5EF4-FFF2-40B4-BE49-F238E27FC236}">
                <a16:creationId xmlns:a16="http://schemas.microsoft.com/office/drawing/2014/main" id="{63B72EB1-3A2A-47BB-8A46-50F8487C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Comparación por zona y almacén.</a:t>
            </a:r>
          </a:p>
        </p:txBody>
      </p:sp>
      <p:sp>
        <p:nvSpPr>
          <p:cNvPr id="11" name="q-2">
            <a:extLst xmlns:a="http://schemas.openxmlformats.org/drawingml/2006/main">
              <a:ext uri="{FF2B5EF4-FFF2-40B4-BE49-F238E27FC236}">
                <a16:creationId xmlns:a16="http://schemas.microsoft.com/office/drawing/2014/main" id="{D2694CEE-F90F-49C0-AD95-2A6788EB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4810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2" name="q-head-2">
            <a:extLst xmlns:a="http://schemas.openxmlformats.org/drawingml/2006/main">
              <a:ext uri="{FF2B5EF4-FFF2-40B4-BE49-F238E27FC236}">
                <a16:creationId xmlns:a16="http://schemas.microsoft.com/office/drawing/2014/main" id="{1887B3DE-5EE3-42F8-8060-92A2DF7A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¿Qué?</a:t>
            </a:r>
          </a:p>
        </p:txBody>
      </p:sp>
      <p:sp>
        <p:nvSpPr>
          <p:cNvPr id="13" name="q-body-2">
            <a:extLst xmlns:a="http://schemas.openxmlformats.org/drawingml/2006/main">
              <a:ext uri="{FF2B5EF4-FFF2-40B4-BE49-F238E27FC236}">
                <a16:creationId xmlns:a16="http://schemas.microsoft.com/office/drawing/2014/main" id="{5991F432-9BD3-4A27-8BB7-75018729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Categoría y producto con mayor error.</a:t>
            </a:r>
          </a:p>
        </p:txBody>
      </p:sp>
      <p:sp>
        <p:nvSpPr>
          <p:cNvPr id="14" name="q-3">
            <a:extLst xmlns:a="http://schemas.openxmlformats.org/drawingml/2006/main">
              <a:ext uri="{FF2B5EF4-FFF2-40B4-BE49-F238E27FC236}">
                <a16:creationId xmlns:a16="http://schemas.microsoft.com/office/drawing/2014/main" id="{464F746D-1B99-4482-B5A1-9323297F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14875"/>
            <a:ext cx="4810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5" name="q-head-3">
            <a:extLst xmlns:a="http://schemas.openxmlformats.org/drawingml/2006/main">
              <a:ext uri="{FF2B5EF4-FFF2-40B4-BE49-F238E27FC236}">
                <a16:creationId xmlns:a16="http://schemas.microsoft.com/office/drawing/2014/main" id="{3C182B48-5DF1-4CA9-AC4C-98E1A799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577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¿Qué hacer?</a:t>
            </a:r>
          </a:p>
        </p:txBody>
      </p:sp>
      <p:sp>
        <p:nvSpPr>
          <p:cNvPr id="16" name="q-body-3">
            <a:extLst xmlns:a="http://schemas.openxmlformats.org/drawingml/2006/main">
              <a:ext uri="{FF2B5EF4-FFF2-40B4-BE49-F238E27FC236}">
                <a16:creationId xmlns:a16="http://schemas.microsoft.com/office/drawing/2014/main" id="{2202464E-30DE-4F47-82F5-34662743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Inventario, metas y seguimiento comercial.</a:t>
            </a:r>
          </a:p>
        </p:txBody>
      </p:sp>
    </p:spTree>
    <p:extLst>
      <p:ext uri="{BB962C8B-B14F-4D97-AF65-F5344CB8AC3E}">
        <p14:creationId xmlns:p14="http://schemas.microsoft.com/office/powerpoint/2010/main" val="6654421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7E525A-78DA-4D8E-9CFF-7AB711E0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Tres riesgos pueden invalidar la entrega si no se controlan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20AF9B5-9AB8-4CB1-AD18-93B38B9C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Revise el estado real del proyecto antes de capturar evidencias o presentar resultados.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8687F18-DF57-4664-8F66-00A788A2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isk-0">
            <a:extLst xmlns:a="http://schemas.openxmlformats.org/drawingml/2006/main">
              <a:ext uri="{FF2B5EF4-FFF2-40B4-BE49-F238E27FC236}">
                <a16:creationId xmlns:a16="http://schemas.microsoft.com/office/drawing/2014/main" id="{77FADDB5-0E89-4F1C-B43C-1C7F1398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3476625" cy="352425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4B183"/>
            </a:solidFill>
            <a:prstDash val="solid"/>
          </a:ln>
        </p:spPr>
      </p:sp>
      <p:sp>
        <p:nvSpPr>
          <p:cNvPr id="5" name="risk-num-0">
            <a:extLst xmlns:a="http://schemas.openxmlformats.org/drawingml/2006/main">
              <a:ext uri="{FF2B5EF4-FFF2-40B4-BE49-F238E27FC236}">
                <a16:creationId xmlns:a16="http://schemas.microsoft.com/office/drawing/2014/main" id="{7CC9D0F6-23AB-45CE-9BAC-8D6412D0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43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7C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7C3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risk-head-0">
            <a:extLst xmlns:a="http://schemas.openxmlformats.org/drawingml/2006/main">
              <a:ext uri="{FF2B5EF4-FFF2-40B4-BE49-F238E27FC236}">
                <a16:creationId xmlns:a16="http://schemas.microsoft.com/office/drawing/2014/main" id="{683DA643-6A4F-4ED7-BB0A-26938ADD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67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Predicción simulada</a:t>
            </a:r>
          </a:p>
        </p:txBody>
      </p:sp>
      <p:sp>
        <p:nvSpPr>
          <p:cNvPr id="7" name="risk-body-0">
            <a:extLst xmlns:a="http://schemas.openxmlformats.org/drawingml/2006/main">
              <a:ext uri="{FF2B5EF4-FFF2-40B4-BE49-F238E27FC236}">
                <a16:creationId xmlns:a16="http://schemas.microsoft.com/office/drawing/2014/main" id="{CF843394-BAB4-4A52-B3AA-3C3F9295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81375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SalesPredictionApp usa ±5 % aleatorio hasta conectar SalesModel.Predict.</a:t>
            </a:r>
          </a:p>
        </p:txBody>
      </p:sp>
      <p:sp>
        <p:nvSpPr>
          <p:cNvPr id="8" name="risk-action-label-0">
            <a:extLst xmlns:a="http://schemas.openxmlformats.org/drawingml/2006/main">
              <a:ext uri="{FF2B5EF4-FFF2-40B4-BE49-F238E27FC236}">
                <a16:creationId xmlns:a16="http://schemas.microsoft.com/office/drawing/2014/main" id="{7B8A8A45-8A0C-4238-A176-576E67A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38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ACCIÓN</a:t>
            </a:r>
          </a:p>
        </p:txBody>
      </p:sp>
      <p:sp>
        <p:nvSpPr>
          <p:cNvPr id="9" name="risk-action-0">
            <a:extLst xmlns:a="http://schemas.openxmlformats.org/drawingml/2006/main">
              <a:ext uri="{FF2B5EF4-FFF2-40B4-BE49-F238E27FC236}">
                <a16:creationId xmlns:a16="http://schemas.microsoft.com/office/drawing/2014/main" id="{887AD58B-93DF-4462-8820-7601D2BF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Eliminar la simulación después de entrenar.</a:t>
            </a:r>
          </a:p>
        </p:txBody>
      </p:sp>
      <p:sp>
        <p:nvSpPr>
          <p:cNvPr id="10" name="risk-1">
            <a:extLst xmlns:a="http://schemas.openxmlformats.org/drawingml/2006/main">
              <a:ext uri="{FF2B5EF4-FFF2-40B4-BE49-F238E27FC236}">
                <a16:creationId xmlns:a16="http://schemas.microsoft.com/office/drawing/2014/main" id="{72D7B159-FCA2-471C-99E9-CD92853F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05000"/>
            <a:ext cx="3476625" cy="352425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1" name="risk-num-1">
            <a:extLst xmlns:a="http://schemas.openxmlformats.org/drawingml/2006/main">
              <a:ext uri="{FF2B5EF4-FFF2-40B4-BE49-F238E27FC236}">
                <a16:creationId xmlns:a16="http://schemas.microsoft.com/office/drawing/2014/main" id="{29EA69AD-9857-45EB-BCC2-5E29109E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43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isk-head-1">
            <a:extLst xmlns:a="http://schemas.openxmlformats.org/drawingml/2006/main">
              <a:ext uri="{FF2B5EF4-FFF2-40B4-BE49-F238E27FC236}">
                <a16:creationId xmlns:a16="http://schemas.microsoft.com/office/drawing/2014/main" id="{47DBF623-5CA4-4281-B159-56FE01AD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Rutas no portables</a:t>
            </a:r>
          </a:p>
        </p:txBody>
      </p:sp>
      <p:sp>
        <p:nvSpPr>
          <p:cNvPr id="13" name="risk-body-1">
            <a:extLst xmlns:a="http://schemas.openxmlformats.org/drawingml/2006/main">
              <a:ext uri="{FF2B5EF4-FFF2-40B4-BE49-F238E27FC236}">
                <a16:creationId xmlns:a16="http://schemas.microsoft.com/office/drawing/2014/main" id="{C5784A98-F00B-4265-B1F2-35DA5FD3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81375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Los .mbconfig generados pueden guardar rutas absolutas locales.</a:t>
            </a:r>
          </a:p>
        </p:txBody>
      </p:sp>
      <p:sp>
        <p:nvSpPr>
          <p:cNvPr id="14" name="risk-action-label-1">
            <a:extLst xmlns:a="http://schemas.openxmlformats.org/drawingml/2006/main">
              <a:ext uri="{FF2B5EF4-FFF2-40B4-BE49-F238E27FC236}">
                <a16:creationId xmlns:a16="http://schemas.microsoft.com/office/drawing/2014/main" id="{933F942A-10C5-41B7-B058-AA067C52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ACCIÓN</a:t>
            </a:r>
          </a:p>
        </p:txBody>
      </p:sp>
      <p:sp>
        <p:nvSpPr>
          <p:cNvPr id="15" name="risk-action-1">
            <a:extLst xmlns:a="http://schemas.openxmlformats.org/drawingml/2006/main">
              <a:ext uri="{FF2B5EF4-FFF2-40B4-BE49-F238E27FC236}">
                <a16:creationId xmlns:a16="http://schemas.microsoft.com/office/drawing/2014/main" id="{9DD9F76D-7B5E-41AC-AF61-9645E401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148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Actualizar las rutas al mover el repositorio.</a:t>
            </a:r>
          </a:p>
        </p:txBody>
      </p:sp>
      <p:sp>
        <p:nvSpPr>
          <p:cNvPr id="16" name="risk-2">
            <a:extLst xmlns:a="http://schemas.openxmlformats.org/drawingml/2006/main">
              <a:ext uri="{FF2B5EF4-FFF2-40B4-BE49-F238E27FC236}">
                <a16:creationId xmlns:a16="http://schemas.microsoft.com/office/drawing/2014/main" id="{5B1C72A4-7D44-40D4-89E9-DFF38DCE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05000"/>
            <a:ext cx="3476625" cy="352425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7" name="risk-num-2">
            <a:extLst xmlns:a="http://schemas.openxmlformats.org/drawingml/2006/main">
              <a:ext uri="{FF2B5EF4-FFF2-40B4-BE49-F238E27FC236}">
                <a16:creationId xmlns:a16="http://schemas.microsoft.com/office/drawing/2014/main" id="{3955C442-F2B2-4C23-8BFC-AC3F015F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43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isk-head-2">
            <a:extLst xmlns:a="http://schemas.openxmlformats.org/drawingml/2006/main">
              <a:ext uri="{FF2B5EF4-FFF2-40B4-BE49-F238E27FC236}">
                <a16:creationId xmlns:a16="http://schemas.microsoft.com/office/drawing/2014/main" id="{AB4F09EF-A278-4143-B001-9DEC27E2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67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19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Compatibilidad / paquetes</a:t>
            </a:r>
          </a:p>
        </p:txBody>
      </p:sp>
      <p:sp>
        <p:nvSpPr>
          <p:cNvPr id="19" name="risk-body-2">
            <a:extLst xmlns:a="http://schemas.openxmlformats.org/drawingml/2006/main">
              <a:ext uri="{FF2B5EF4-FFF2-40B4-BE49-F238E27FC236}">
                <a16:creationId xmlns:a16="http://schemas.microsoft.com/office/drawing/2014/main" id="{E018DF97-49CA-48D5-81C9-7240DE70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381375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Model Builder o NuGet pueden faltar o no cargar en VS 2026.</a:t>
            </a:r>
          </a:p>
        </p:txBody>
      </p:sp>
      <p:sp>
        <p:nvSpPr>
          <p:cNvPr id="20" name="risk-action-label-2">
            <a:extLst xmlns:a="http://schemas.openxmlformats.org/drawingml/2006/main">
              <a:ext uri="{FF2B5EF4-FFF2-40B4-BE49-F238E27FC236}">
                <a16:creationId xmlns:a16="http://schemas.microsoft.com/office/drawing/2014/main" id="{60C0A38C-D7FF-4071-A5B1-24C4823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438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ACCIÓN</a:t>
            </a:r>
          </a:p>
        </p:txBody>
      </p:sp>
      <p:sp>
        <p:nvSpPr>
          <p:cNvPr id="21" name="risk-action-2">
            <a:extLst xmlns:a="http://schemas.openxmlformats.org/drawingml/2006/main">
              <a:ext uri="{FF2B5EF4-FFF2-40B4-BE49-F238E27FC236}">
                <a16:creationId xmlns:a16="http://schemas.microsoft.com/office/drawing/2014/main" id="{B9ACA7CA-D381-4354-899A-C4DBA61A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7148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Probar VS 2022 en paralelo y restaurar paquetes.</a:t>
            </a:r>
          </a:p>
        </p:txBody>
      </p:sp>
    </p:spTree>
    <p:extLst>
      <p:ext uri="{BB962C8B-B14F-4D97-AF65-F5344CB8AC3E}">
        <p14:creationId xmlns:p14="http://schemas.microsoft.com/office/powerpoint/2010/main" val="8997464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3B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ill-CIERRE">
            <a:extLst xmlns:a="http://schemas.openxmlformats.org/drawingml/2006/main">
              <a:ext uri="{FF2B5EF4-FFF2-40B4-BE49-F238E27FC236}">
                <a16:creationId xmlns:a16="http://schemas.microsoft.com/office/drawing/2014/main" id="{E3FDF37F-10DF-4C48-ADFB-B4AD16FE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"/>
            <a:ext cx="952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4546A"/>
          </a:solidFill>
          <a:ln xmlns:a="http://schemas.openxmlformats.org/drawingml/2006/main" w="9525">
            <a:solidFill>
              <a:srgbClr val="14546A"/>
            </a:solidFill>
            <a:prstDash val="solid"/>
          </a:ln>
        </p:spPr>
      </p:sp>
      <p:sp>
        <p:nvSpPr>
          <p:cNvPr id="2" name="pill-text-CIERRE">
            <a:extLst xmlns:a="http://schemas.openxmlformats.org/drawingml/2006/main">
              <a:ext uri="{FF2B5EF4-FFF2-40B4-BE49-F238E27FC236}">
                <a16:creationId xmlns:a16="http://schemas.microsoft.com/office/drawing/2014/main" id="{852C8BB6-5152-43CC-9452-52B7D14B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29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FEAF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FEAF0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7F33731-1EB5-488C-9085-E0AE589E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9334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tarea está completa cuando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flujo puede repetirse</a:t>
            </a:r>
          </a:p>
        </p:txBody>
      </p:sp>
      <p:sp>
        <p:nvSpPr>
          <p:cNvPr id="4" name="close-body">
            <a:extLst xmlns:a="http://schemas.openxmlformats.org/drawingml/2006/main">
              <a:ext uri="{FF2B5EF4-FFF2-40B4-BE49-F238E27FC236}">
                <a16:creationId xmlns:a16="http://schemas.microsoft.com/office/drawing/2014/main" id="{C2C24FDB-373F-4A69-8501-2F22F95C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DEDF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EDF1"/>
                </a:solidFill>
                <a:latin typeface="Aptos"/>
                <a:ea typeface="Aptos"/>
                <a:cs typeface="Aptos"/>
              </a:rPr>
              <a:t>Datos válidos → modelo evaluado → predicciones reales → dashboard → recomendaciones</a:t>
            </a:r>
          </a:p>
        </p:txBody>
      </p:sp>
      <p:sp>
        <p:nvSpPr>
          <p:cNvPr id="5" name="close-check">
            <a:extLst xmlns:a="http://schemas.openxmlformats.org/drawingml/2006/main">
              <a:ext uri="{FF2B5EF4-FFF2-40B4-BE49-F238E27FC236}">
                <a16:creationId xmlns:a16="http://schemas.microsoft.com/office/drawing/2014/main" id="{8D7D37B2-B594-44D8-A9E0-3667DC33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619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 CSV de entrenamiento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 Capturas y métricas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 resultados_prediccion.csv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 Dashboard y conclusiones</a:t>
            </a:r>
          </a:p>
        </p:txBody>
      </p:sp>
      <p:sp>
        <p:nvSpPr>
          <p:cNvPr id="6" name="close-final">
            <a:extLst xmlns:a="http://schemas.openxmlformats.org/drawingml/2006/main">
              <a:ext uri="{FF2B5EF4-FFF2-40B4-BE49-F238E27FC236}">
                <a16:creationId xmlns:a16="http://schemas.microsoft.com/office/drawing/2014/main" id="{5A5EAB90-AA5C-4088-82C6-F1BB4544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CA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CAA"/>
                </a:solidFill>
                <a:latin typeface="Aptos"/>
                <a:ea typeface="Aptos"/>
                <a:cs typeface="Aptos"/>
              </a:rPr>
              <a:t>No entregue resultados simulados como si fueran predicciones del modelo.</a:t>
            </a:r>
          </a:p>
        </p:txBody>
      </p:sp>
    </p:spTree>
    <p:extLst>
      <p:ext uri="{BB962C8B-B14F-4D97-AF65-F5344CB8AC3E}">
        <p14:creationId xmlns:p14="http://schemas.microsoft.com/office/powerpoint/2010/main" val="10997060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2026-07-14T07:47:51.6960000Z</dcterms:created>
  <dcterms:modified xsi:type="dcterms:W3CDTF">2026-07-14T07:47:51.6960000Z</dcterms:modified>
</coreProperties>
</file>